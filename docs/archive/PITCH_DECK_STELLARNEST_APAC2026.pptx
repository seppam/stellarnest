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1371600"/>
            <a:ext cx="4114800" cy="4114800"/>
          </a:xfrm>
          <a:prstGeom prst="ellipse">
            <a:avLst/>
          </a:prstGeom>
          <a:solidFill>
            <a:srgbClr val="1A4080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-731520"/>
            <a:ext cx="2743200" cy="2743200"/>
          </a:xfrm>
          <a:prstGeom prst="ellipse">
            <a:avLst/>
          </a:prstGeom>
          <a:solidFill>
            <a:srgbClr val="E8A838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498080" y="274320"/>
            <a:ext cx="822960" cy="822960"/>
          </a:xfrm>
          <a:prstGeom prst="ellipse">
            <a:avLst/>
          </a:prstGeom>
          <a:solidFill>
            <a:srgbClr val="E8A838">
              <a:alpha val="13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3528" y="429768"/>
            <a:ext cx="530352" cy="5303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502920"/>
            <a:ext cx="2194560" cy="25603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5029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APAC STELLAR HACKATHON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123444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StellarNest</a:t>
            </a:r>
            <a:endParaRPr lang="en-US" sz="6200" dirty="0"/>
          </a:p>
        </p:txBody>
      </p:sp>
      <p:sp>
        <p:nvSpPr>
          <p:cNvPr id="10" name="Shape 7"/>
          <p:cNvSpPr/>
          <p:nvPr/>
        </p:nvSpPr>
        <p:spPr>
          <a:xfrm>
            <a:off x="457200" y="2212848"/>
            <a:ext cx="2011680" cy="4572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2331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Borderless Payments for Every Worker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57200" y="28803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Stellar  ·  Built for ASEAN Migrant Workers &amp; Freelancers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429000"/>
            <a:ext cx="2194560" cy="384048"/>
          </a:xfrm>
          <a:prstGeom prst="rect">
            <a:avLst/>
          </a:prstGeom>
          <a:solidFill>
            <a:srgbClr val="FF6B35">
              <a:alpha val="13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34290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Settlement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834640" y="3429000"/>
            <a:ext cx="2194560" cy="384048"/>
          </a:xfrm>
          <a:prstGeom prst="rect">
            <a:avLst/>
          </a:prstGeom>
          <a:solidFill>
            <a:srgbClr val="FF6B35">
              <a:alpha val="13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2834640" y="34290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 Encrypted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212080" y="3429000"/>
            <a:ext cx="2194560" cy="384048"/>
          </a:xfrm>
          <a:prstGeom prst="rect">
            <a:avLst/>
          </a:prstGeom>
          <a:solidFill>
            <a:srgbClr val="FF6B35">
              <a:alpha val="13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5212080" y="34290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ASEAN Corridors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91B36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" y="4736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2026  ·  Final Submission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08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Migrant workers pay the highest fees for the worst service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256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STELLARNEST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0116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02412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5–7%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Per-Transfer Fee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8288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 lose $12–$35 per transaction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960120"/>
            <a:ext cx="20116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06040" y="102412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2–3 days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06040" y="157276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Settlement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06040" y="18288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same-day remittance option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960120"/>
            <a:ext cx="20116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102412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72M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800600" y="157276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Unbanked in ASEAN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18288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receive transfers at all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58000" y="960120"/>
            <a:ext cx="2011680" cy="1188720"/>
          </a:xfrm>
          <a:prstGeom prst="rect">
            <a:avLst/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0" y="960120"/>
            <a:ext cx="54864" cy="118872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0" name="Text 18"/>
          <p:cNvSpPr/>
          <p:nvPr/>
        </p:nvSpPr>
        <p:spPr>
          <a:xfrm>
            <a:off x="6995160" y="102412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$150B+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995160" y="157276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Remittance Market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95160" y="18288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8% year-on-year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377440"/>
            <a:ext cx="41605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377440"/>
            <a:ext cx="640080" cy="1005840"/>
          </a:xfrm>
          <a:prstGeom prst="rect">
            <a:avLst/>
          </a:prstGeom>
          <a:solidFill>
            <a:srgbClr val="DC2626">
              <a:alpha val="8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2651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05840" y="24505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Exorbitant Hidden Fees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272491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corridors charge 5–7% per transfer. That's $12–$35 lost on every $200 remittance.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2377440"/>
            <a:ext cx="41605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2377440"/>
            <a:ext cx="640080" cy="1005840"/>
          </a:xfrm>
          <a:prstGeom prst="rect">
            <a:avLst/>
          </a:prstGeom>
          <a:solidFill>
            <a:srgbClr val="DC2626">
              <a:alpha val="8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663440" y="2651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⏳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394960" y="24505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Days-Long Settlement Delays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94960" y="272491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money takes 2–3 days to arrive. Workers can't help families in urgent situations.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3493008"/>
            <a:ext cx="41605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3493008"/>
            <a:ext cx="640080" cy="1005840"/>
          </a:xfrm>
          <a:prstGeom prst="rect">
            <a:avLst/>
          </a:prstGeom>
          <a:solidFill>
            <a:srgbClr val="DC2626">
              <a:alpha val="8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37673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🏦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005840" y="35661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Access for the Unbanked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05840" y="38404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72M unbanked ASEAN residents can't receive digital transfers. Cash-only corridors are slow and dangerous.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3493008"/>
            <a:ext cx="41605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3493008"/>
            <a:ext cx="640080" cy="1005840"/>
          </a:xfrm>
          <a:prstGeom prst="rect">
            <a:avLst/>
          </a:prstGeom>
          <a:solidFill>
            <a:srgbClr val="DC2626">
              <a:alpha val="8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4663440" y="37673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5394960" y="35661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Financial Identity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394960" y="38404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Informal remittances build no credit profile. Workers who pay on time can't access loans or mortgages.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4956048"/>
            <a:ext cx="91440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4" name="Text 42"/>
          <p:cNvSpPr/>
          <p:nvPr/>
        </p:nvSpPr>
        <p:spPr>
          <a:xfrm>
            <a:off x="411480" y="49834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StellarNest  ·  APAC Stellar Hackathon 2026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Introducing StellarNest — borderless payments in seconds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256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STELLARNEST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link. Any bank. Zero crypto knowledge required.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4069080" cy="1463040"/>
          </a:xfrm>
          <a:prstGeom prst="rect">
            <a:avLst/>
          </a:prstGeom>
          <a:solidFill>
            <a:srgbClr val="1A408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72768"/>
            <a:ext cx="40690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773936"/>
            <a:ext cx="475488" cy="475488"/>
          </a:xfrm>
          <a:prstGeom prst="ellipse">
            <a:avLst/>
          </a:prstGeom>
          <a:solidFill>
            <a:srgbClr val="2563EB">
              <a:alpha val="16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17556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Magic Claim Links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43000" y="2084832"/>
            <a:ext cx="859536" cy="182880"/>
          </a:xfrm>
          <a:prstGeom prst="rect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216152" y="2084832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" y="237744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Shareable payment URLs via WhatsApp or SMS. Recipient claims with just a phone number — no app, no wallet, no onboarding required.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572768"/>
            <a:ext cx="4069080" cy="1463040"/>
          </a:xfrm>
          <a:prstGeom prst="rect">
            <a:avLst/>
          </a:prstGeom>
          <a:solidFill>
            <a:srgbClr val="1A408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572768"/>
            <a:ext cx="40690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Shape 14"/>
          <p:cNvSpPr/>
          <p:nvPr/>
        </p:nvSpPr>
        <p:spPr>
          <a:xfrm>
            <a:off x="4892040" y="1773936"/>
            <a:ext cx="475488" cy="475488"/>
          </a:xfrm>
          <a:prstGeom prst="ellipse">
            <a:avLst/>
          </a:prstGeom>
          <a:solidFill>
            <a:srgbClr val="2563EB">
              <a:alpha val="16000"/>
            </a:srgbClr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1865376"/>
            <a:ext cx="292608" cy="29260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0" y="17556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Split-Routing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0" y="2084832"/>
            <a:ext cx="800100" cy="182880"/>
          </a:xfrm>
          <a:prstGeom prst="rect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5559552" y="2084832"/>
            <a:ext cx="7269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Money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892040" y="237744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payment is automatically split: 70% to family, 30% to savings — enforced at the protocol level on the Stellar ledger.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65760" y="3200400"/>
            <a:ext cx="4069080" cy="1463040"/>
          </a:xfrm>
          <a:prstGeom prst="rect">
            <a:avLst/>
          </a:prstGeom>
          <a:solidFill>
            <a:srgbClr val="1A408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65760" y="3200400"/>
            <a:ext cx="406908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4" name="Shape 21"/>
          <p:cNvSpPr/>
          <p:nvPr/>
        </p:nvSpPr>
        <p:spPr>
          <a:xfrm>
            <a:off x="548640" y="3401568"/>
            <a:ext cx="475488" cy="475488"/>
          </a:xfrm>
          <a:prstGeom prst="ellipse">
            <a:avLst/>
          </a:prstGeom>
          <a:solidFill>
            <a:srgbClr val="2563EB">
              <a:alpha val="16000"/>
            </a:srgbClr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93008"/>
            <a:ext cx="292608" cy="29260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143000" y="3383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ASEAN Corridors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1143000" y="3712464"/>
            <a:ext cx="740664" cy="182880"/>
          </a:xfrm>
          <a:prstGeom prst="rect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28" name="Text 24"/>
          <p:cNvSpPr/>
          <p:nvPr/>
        </p:nvSpPr>
        <p:spPr>
          <a:xfrm>
            <a:off x="1216152" y="3712464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Multi-Rail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548640" y="4005072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BI-FAST, InstaPay, VietQR, PromptPay, DuitNow, PayNow — local settlement networks for same-day cash-out.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4709160" y="3200400"/>
            <a:ext cx="4069080" cy="1463040"/>
          </a:xfrm>
          <a:prstGeom prst="rect">
            <a:avLst/>
          </a:prstGeom>
          <a:solidFill>
            <a:srgbClr val="1A408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4709160" y="3200400"/>
            <a:ext cx="406908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2" name="Shape 28"/>
          <p:cNvSpPr/>
          <p:nvPr/>
        </p:nvSpPr>
        <p:spPr>
          <a:xfrm>
            <a:off x="4892040" y="3401568"/>
            <a:ext cx="475488" cy="475488"/>
          </a:xfrm>
          <a:prstGeom prst="ellipse">
            <a:avLst/>
          </a:prstGeom>
          <a:solidFill>
            <a:srgbClr val="2563EB">
              <a:alpha val="16000"/>
            </a:srgbClr>
          </a:solidFill>
          <a:ln/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3493008"/>
            <a:ext cx="292608" cy="292608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5486400" y="3383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 Encryption</a:t>
            </a:r>
            <a:endParaRPr lang="en-US" sz="1400" dirty="0"/>
          </a:p>
        </p:txBody>
      </p:sp>
      <p:sp>
        <p:nvSpPr>
          <p:cNvPr id="35" name="Shape 30"/>
          <p:cNvSpPr/>
          <p:nvPr/>
        </p:nvSpPr>
        <p:spPr>
          <a:xfrm>
            <a:off x="5486400" y="3712464"/>
            <a:ext cx="621792" cy="182880"/>
          </a:xfrm>
          <a:prstGeom prst="rect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36" name="Text 31"/>
          <p:cNvSpPr/>
          <p:nvPr/>
        </p:nvSpPr>
        <p:spPr>
          <a:xfrm>
            <a:off x="5559552" y="371246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800" dirty="0"/>
          </a:p>
        </p:txBody>
      </p:sp>
      <p:sp>
        <p:nvSpPr>
          <p:cNvPr id="37" name="Text 32"/>
          <p:cNvSpPr/>
          <p:nvPr/>
        </p:nvSpPr>
        <p:spPr>
          <a:xfrm>
            <a:off x="4892040" y="4005072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AES-256-GCM encryption. PBKDF2 with 100,000 rounds. Secrets never touch a server. Worker data stays private.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0" y="4956048"/>
            <a:ext cx="9144000" cy="9144"/>
          </a:xfrm>
          <a:prstGeom prst="rect">
            <a:avLst/>
          </a:prstGeom>
          <a:solidFill>
            <a:srgbClr val="8899BB"/>
          </a:solidFill>
          <a:ln/>
        </p:spPr>
      </p:sp>
      <p:sp>
        <p:nvSpPr>
          <p:cNvPr id="39" name="Text 34"/>
          <p:cNvSpPr/>
          <p:nvPr/>
        </p:nvSpPr>
        <p:spPr>
          <a:xfrm>
            <a:off x="411480" y="49834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StellarNest  ·  APAC Stellar Hackathon 2026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08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Sender Experience — 5 steps to send money home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256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STELLARNEST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160020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1600200" cy="91440"/>
          </a:xfrm>
          <a:prstGeom prst="rect">
            <a:avLst/>
          </a:prstGeom>
          <a:solidFill>
            <a:srgbClr val="1A4080"/>
          </a:solidFill>
          <a:ln/>
        </p:spPr>
      </p:sp>
      <p:sp>
        <p:nvSpPr>
          <p:cNvPr id="8" name="Shape 6"/>
          <p:cNvSpPr/>
          <p:nvPr/>
        </p:nvSpPr>
        <p:spPr>
          <a:xfrm>
            <a:off x="845820" y="1143000"/>
            <a:ext cx="457200" cy="457200"/>
          </a:xfrm>
          <a:prstGeom prst="ellipse">
            <a:avLst/>
          </a:prstGeom>
          <a:solidFill>
            <a:srgbClr val="1A4080"/>
          </a:solidFill>
          <a:ln/>
        </p:spPr>
      </p:sp>
      <p:sp>
        <p:nvSpPr>
          <p:cNvPr id="9" name="Text 7"/>
          <p:cNvSpPr/>
          <p:nvPr/>
        </p:nvSpPr>
        <p:spPr>
          <a:xfrm>
            <a:off x="84582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7190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Amount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267712"/>
            <a:ext cx="1417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any amount ($1–$10,000). Live conversion shows local currency equivalent.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892808" y="228600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4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039112" y="960120"/>
            <a:ext cx="160020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39112" y="960120"/>
            <a:ext cx="160020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Shape 13"/>
          <p:cNvSpPr/>
          <p:nvPr/>
        </p:nvSpPr>
        <p:spPr>
          <a:xfrm>
            <a:off x="2610612" y="11430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2610612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130552" y="17190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Split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30552" y="2267712"/>
            <a:ext cx="1417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the 70/30 slider — family savings vs emergency fund, enforced on-chain.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0" y="228600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803904" y="960120"/>
            <a:ext cx="160020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03904" y="960120"/>
            <a:ext cx="160020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Shape 20"/>
          <p:cNvSpPr/>
          <p:nvPr/>
        </p:nvSpPr>
        <p:spPr>
          <a:xfrm>
            <a:off x="4375404" y="114300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4375404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895344" y="17190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Recipient Details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95344" y="2267712"/>
            <a:ext cx="1417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name + country. Determines settlement rail and e-wallets for the recipient.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22392" y="228600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568696" y="960120"/>
            <a:ext cx="160020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568696" y="960120"/>
            <a:ext cx="1600200" cy="914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9" name="Shape 27"/>
          <p:cNvSpPr/>
          <p:nvPr/>
        </p:nvSpPr>
        <p:spPr>
          <a:xfrm>
            <a:off x="6140196" y="114300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0" name="Text 28"/>
          <p:cNvSpPr/>
          <p:nvPr/>
        </p:nvSpPr>
        <p:spPr>
          <a:xfrm>
            <a:off x="6140196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660136" y="17190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&amp; Share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0136" y="2267712"/>
            <a:ext cx="1417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Magic Link URL created and shared via WhatsApp, SMS, or email. One tap away.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187184" y="228600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333488" y="960120"/>
            <a:ext cx="160020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333488" y="960120"/>
            <a:ext cx="1600200" cy="914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6" name="Shape 34"/>
          <p:cNvSpPr/>
          <p:nvPr/>
        </p:nvSpPr>
        <p:spPr>
          <a:xfrm>
            <a:off x="7904988" y="114300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7" name="Text 35"/>
          <p:cNvSpPr/>
          <p:nvPr/>
        </p:nvSpPr>
        <p:spPr>
          <a:xfrm>
            <a:off x="7904988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424928" y="17190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424928" y="2267712"/>
            <a:ext cx="1417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USDC transaction on Stellar. Memo links the ledger record to the Firestore claim.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3730752"/>
            <a:ext cx="8595360" cy="530352"/>
          </a:xfrm>
          <a:prstGeom prst="rect">
            <a:avLst/>
          </a:prstGeom>
          <a:solidFill>
            <a:srgbClr val="0B1F3A">
              <a:alpha val="6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37307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$100 → Rp 1,650,000  |  $70 family + $30 savings  |  Share via WhatsApp  |  TX on Stellar in ~5s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0" y="4956048"/>
            <a:ext cx="91440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3" name="Text 41"/>
          <p:cNvSpPr/>
          <p:nvPr/>
        </p:nvSpPr>
        <p:spPr>
          <a:xfrm>
            <a:off x="411480" y="49834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StellarNest  ·  APAC Stellar Hackathon 2026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08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Recipient Experience — No app, no wallet, no crypto knowledge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256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STELLARNEST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114800" cy="3749040"/>
          </a:xfrm>
          <a:prstGeom prst="rect">
            <a:avLst/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4114800" cy="502920"/>
          </a:xfrm>
          <a:prstGeom prst="rect">
            <a:avLst/>
          </a:prstGeom>
          <a:solidFill>
            <a:srgbClr val="1A408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 Recipient Screen Preview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have a payment!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196596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$100.00 USDC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02920" y="2423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🇮🇩  Indonesia  ·  Rp 1,650,000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788920"/>
            <a:ext cx="3657600" cy="9144"/>
          </a:xfrm>
          <a:prstGeom prst="rect">
            <a:avLst/>
          </a:prstGeom>
          <a:solidFill>
            <a:srgbClr val="2A5F9E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880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withdrawal method: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200400"/>
            <a:ext cx="1188720" cy="310896"/>
          </a:xfrm>
          <a:prstGeom prst="rect">
            <a:avLst/>
          </a:prstGeom>
          <a:solidFill>
            <a:srgbClr val="E8A838">
              <a:alpha val="27000"/>
            </a:srgbClr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20040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0" y="3200400"/>
            <a:ext cx="1188720" cy="310896"/>
          </a:xfrm>
          <a:prstGeom prst="rect">
            <a:avLst/>
          </a:prstGeom>
          <a:solidFill>
            <a:srgbClr val="1A4080">
              <a:alpha val="27000"/>
            </a:srgbClr>
          </a:solidFill>
          <a:ln w="12700">
            <a:solidFill>
              <a:srgbClr val="2A5F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0" y="320040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GoPay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54680" y="3200400"/>
            <a:ext cx="1188720" cy="310896"/>
          </a:xfrm>
          <a:prstGeom prst="rect">
            <a:avLst/>
          </a:prstGeom>
          <a:solidFill>
            <a:srgbClr val="1A4080">
              <a:alpha val="27000"/>
            </a:srgbClr>
          </a:solidFill>
          <a:ln w="12700">
            <a:solidFill>
              <a:srgbClr val="2A5F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54680" y="320040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584448"/>
            <a:ext cx="1188720" cy="310896"/>
          </a:xfrm>
          <a:prstGeom prst="rect">
            <a:avLst/>
          </a:prstGeom>
          <a:solidFill>
            <a:srgbClr val="1A4080">
              <a:alpha val="27000"/>
            </a:srgbClr>
          </a:solidFill>
          <a:ln w="12700">
            <a:solidFill>
              <a:srgbClr val="2A5F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5844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828800" y="3584448"/>
            <a:ext cx="1188720" cy="310896"/>
          </a:xfrm>
          <a:prstGeom prst="rect">
            <a:avLst/>
          </a:prstGeom>
          <a:solidFill>
            <a:srgbClr val="1A4080">
              <a:alpha val="27000"/>
            </a:srgbClr>
          </a:solidFill>
          <a:ln w="12700">
            <a:solidFill>
              <a:srgbClr val="2A5F9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0" y="35844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4114800"/>
            <a:ext cx="3657600" cy="38404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41148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 →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0" y="960120"/>
            <a:ext cx="42519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0" y="960120"/>
            <a:ext cx="54864" cy="1143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4736592" y="10515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36592" y="127101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Magic Link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36592" y="15819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app download. Opens in any browser. Phone number verification only.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0" y="2221992"/>
            <a:ext cx="42519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0" y="2221992"/>
            <a:ext cx="54864" cy="1143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4736592" y="23134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36592" y="25328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Withdrawal Method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736592" y="284378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from DANA, GoPay, OVO, BCA, BRI, or any supported e-wallet. Arrives in 1–3 business days.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0" y="3483864"/>
            <a:ext cx="42519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0" y="3483864"/>
            <a:ext cx="54864" cy="11430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8" name="Text 36"/>
          <p:cNvSpPr/>
          <p:nvPr/>
        </p:nvSpPr>
        <p:spPr>
          <a:xfrm>
            <a:off x="4736592" y="35753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36592" y="37947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Funds Received!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736592" y="410565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Recipient gets local currency in their bank or e-wallet. KYC handled by the e-wallet partner.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0" y="4572000"/>
            <a:ext cx="4251960" cy="274320"/>
          </a:xfrm>
          <a:prstGeom prst="rect">
            <a:avLst/>
          </a:prstGeom>
          <a:solidFill>
            <a:srgbClr val="0D9488">
              <a:alpha val="1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0" y="457200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No wallet needed  ·  No app install  ·  KYC handled by e-wallet partner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0" y="4956048"/>
            <a:ext cx="91440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4" name="Text 42"/>
          <p:cNvSpPr/>
          <p:nvPr/>
        </p:nvSpPr>
        <p:spPr>
          <a:xfrm>
            <a:off x="411480" y="49834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StellarNest  ·  APAC Stellar Hackathon 2026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08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Stellar?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protocol built for exactly this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256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STELLARNEST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011680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201168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8" name="Shape 6"/>
          <p:cNvSpPr/>
          <p:nvPr/>
        </p:nvSpPr>
        <p:spPr>
          <a:xfrm>
            <a:off x="384048" y="1124712"/>
            <a:ext cx="384048" cy="384048"/>
          </a:xfrm>
          <a:prstGeom prst="ellipse">
            <a:avLst/>
          </a:prstGeom>
          <a:solidFill>
            <a:srgbClr val="2563EB">
              <a:alpha val="13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" y="1188720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41248" y="11247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Second Finality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84048" y="1600200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 confirm in 3–5 seconds. No 2–3 day waiting. Workers send, families receive immediately.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423160" y="960120"/>
            <a:ext cx="2011680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23160" y="960120"/>
            <a:ext cx="201168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Shape 11"/>
          <p:cNvSpPr/>
          <p:nvPr/>
        </p:nvSpPr>
        <p:spPr>
          <a:xfrm>
            <a:off x="2532888" y="1124712"/>
            <a:ext cx="384048" cy="384048"/>
          </a:xfrm>
          <a:prstGeom prst="ellipse">
            <a:avLst/>
          </a:prstGeom>
          <a:solidFill>
            <a:srgbClr val="2563EB">
              <a:alpha val="13000"/>
            </a:srgbClr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896" y="1188720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990088" y="11247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USDC Stablecoin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2532888" y="1600200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volatile crypto exposure. USDC is pegged 1:1 to USD — workers send dollars, recipients get local currency.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274320" y="2377440"/>
            <a:ext cx="2011680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274320" y="2377440"/>
            <a:ext cx="20116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Shape 16"/>
          <p:cNvSpPr/>
          <p:nvPr/>
        </p:nvSpPr>
        <p:spPr>
          <a:xfrm>
            <a:off x="384048" y="2542032"/>
            <a:ext cx="384048" cy="384048"/>
          </a:xfrm>
          <a:prstGeom prst="ellipse">
            <a:avLst/>
          </a:prstGeom>
          <a:solidFill>
            <a:srgbClr val="2563EB">
              <a:alpha val="13000"/>
            </a:srgbClr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" y="2606040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41248" y="254203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Multi-Currency on One Ledger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384048" y="3017520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multi-currency support. Every corridor settles in local currency via anchor rails — no fragmentation.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2423160" y="2377440"/>
            <a:ext cx="2011680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2423160" y="2377440"/>
            <a:ext cx="20116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Shape 21"/>
          <p:cNvSpPr/>
          <p:nvPr/>
        </p:nvSpPr>
        <p:spPr>
          <a:xfrm>
            <a:off x="2532888" y="2542032"/>
            <a:ext cx="384048" cy="384048"/>
          </a:xfrm>
          <a:prstGeom prst="ellipse">
            <a:avLst/>
          </a:prstGeom>
          <a:solidFill>
            <a:srgbClr val="2563EB">
              <a:alpha val="13000"/>
            </a:srgbClr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6896" y="2606040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2990088" y="254203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Contract Flexibility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2532888" y="3017520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Claimable balance + split payments are protocol-level features. Custom logic lives in a thin service layer, not the ledger.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4663440" y="960120"/>
            <a:ext cx="4160520" cy="3749040"/>
          </a:xfrm>
          <a:prstGeom prst="rect">
            <a:avLst/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4846320" y="105156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Flow on Stellar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4846320" y="1517904"/>
            <a:ext cx="256032" cy="256032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33" name="Text 27"/>
          <p:cNvSpPr/>
          <p:nvPr/>
        </p:nvSpPr>
        <p:spPr>
          <a:xfrm>
            <a:off x="4846320" y="15179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5193792" y="148132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Sender enters amount + recipient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5193792" y="168249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app — $100 USDC</a:t>
            </a:r>
            <a:endParaRPr lang="en-US" sz="800" dirty="0"/>
          </a:p>
        </p:txBody>
      </p:sp>
      <p:sp>
        <p:nvSpPr>
          <p:cNvPr id="36" name="Shape 30"/>
          <p:cNvSpPr/>
          <p:nvPr/>
        </p:nvSpPr>
        <p:spPr>
          <a:xfrm>
            <a:off x="4974336" y="1783080"/>
            <a:ext cx="0" cy="118872"/>
          </a:xfrm>
          <a:prstGeom prst="line">
            <a:avLst/>
          </a:prstGeom>
          <a:noFill/>
          <a:ln w="12700">
            <a:solidFill>
              <a:srgbClr val="2A5F9E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4846320" y="1947672"/>
            <a:ext cx="256032" cy="256032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38" name="Text 32"/>
          <p:cNvSpPr/>
          <p:nvPr/>
        </p:nvSpPr>
        <p:spPr>
          <a:xfrm>
            <a:off x="4846320" y="1947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5193792" y="191109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createClaim() → write to localStorage + Firestore</a:t>
            </a:r>
            <a:endParaRPr lang="en-US" sz="950" dirty="0"/>
          </a:p>
        </p:txBody>
      </p:sp>
      <p:sp>
        <p:nvSpPr>
          <p:cNvPr id="40" name="Text 34"/>
          <p:cNvSpPr/>
          <p:nvPr/>
        </p:nvSpPr>
        <p:spPr>
          <a:xfrm>
            <a:off x="5193792" y="211226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claim ID instantly</a:t>
            </a:r>
            <a:endParaRPr lang="en-US" sz="800" dirty="0"/>
          </a:p>
        </p:txBody>
      </p:sp>
      <p:sp>
        <p:nvSpPr>
          <p:cNvPr id="41" name="Shape 35"/>
          <p:cNvSpPr/>
          <p:nvPr/>
        </p:nvSpPr>
        <p:spPr>
          <a:xfrm>
            <a:off x="4974336" y="2212848"/>
            <a:ext cx="0" cy="118872"/>
          </a:xfrm>
          <a:prstGeom prst="line">
            <a:avLst/>
          </a:prstGeom>
          <a:noFill/>
          <a:ln w="12700">
            <a:solidFill>
              <a:srgbClr val="2A5F9E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4846320" y="2377440"/>
            <a:ext cx="256032" cy="256032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43" name="Text 37"/>
          <p:cNvSpPr/>
          <p:nvPr/>
        </p:nvSpPr>
        <p:spPr>
          <a:xfrm>
            <a:off x="4846320" y="2377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44" name="Text 38"/>
          <p:cNvSpPr/>
          <p:nvPr/>
        </p:nvSpPr>
        <p:spPr>
          <a:xfrm>
            <a:off x="5193792" y="234086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Stellar.transaction builder: USDC payment</a:t>
            </a:r>
            <a:endParaRPr lang="en-US" sz="950" dirty="0"/>
          </a:p>
        </p:txBody>
      </p:sp>
      <p:sp>
        <p:nvSpPr>
          <p:cNvPr id="45" name="Text 39"/>
          <p:cNvSpPr/>
          <p:nvPr/>
        </p:nvSpPr>
        <p:spPr>
          <a:xfrm>
            <a:off x="5193792" y="254203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sender wallet, Dest: StellarNest escrow</a:t>
            </a:r>
            <a:endParaRPr lang="en-US" sz="800" dirty="0"/>
          </a:p>
        </p:txBody>
      </p:sp>
      <p:sp>
        <p:nvSpPr>
          <p:cNvPr id="46" name="Shape 40"/>
          <p:cNvSpPr/>
          <p:nvPr/>
        </p:nvSpPr>
        <p:spPr>
          <a:xfrm>
            <a:off x="4974336" y="2642616"/>
            <a:ext cx="0" cy="118872"/>
          </a:xfrm>
          <a:prstGeom prst="line">
            <a:avLst/>
          </a:prstGeom>
          <a:noFill/>
          <a:ln w="12700">
            <a:solidFill>
              <a:srgbClr val="2A5F9E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4846320" y="2807208"/>
            <a:ext cx="256032" cy="256032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48" name="Text 42"/>
          <p:cNvSpPr/>
          <p:nvPr/>
        </p:nvSpPr>
        <p:spPr>
          <a:xfrm>
            <a:off x="4846320" y="2807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49" name="Text 43"/>
          <p:cNvSpPr/>
          <p:nvPr/>
        </p:nvSpPr>
        <p:spPr>
          <a:xfrm>
            <a:off x="5193792" y="277063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CLAIM:&lt;id&gt; memo</a:t>
            </a:r>
            <a:endParaRPr lang="en-US" sz="950" dirty="0"/>
          </a:p>
        </p:txBody>
      </p:sp>
      <p:sp>
        <p:nvSpPr>
          <p:cNvPr id="50" name="Text 44"/>
          <p:cNvSpPr/>
          <p:nvPr/>
        </p:nvSpPr>
        <p:spPr>
          <a:xfrm>
            <a:off x="5193792" y="29718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ledger TX to Firestore record</a:t>
            </a:r>
            <a:endParaRPr lang="en-US" sz="800" dirty="0"/>
          </a:p>
        </p:txBody>
      </p:sp>
      <p:sp>
        <p:nvSpPr>
          <p:cNvPr id="51" name="Shape 45"/>
          <p:cNvSpPr/>
          <p:nvPr/>
        </p:nvSpPr>
        <p:spPr>
          <a:xfrm>
            <a:off x="4974336" y="3072384"/>
            <a:ext cx="0" cy="118872"/>
          </a:xfrm>
          <a:prstGeom prst="line">
            <a:avLst/>
          </a:prstGeom>
          <a:noFill/>
          <a:ln w="12700">
            <a:solidFill>
              <a:srgbClr val="2A5F9E"/>
            </a:solidFill>
            <a:prstDash val="solid"/>
          </a:ln>
        </p:spPr>
      </p:sp>
      <p:sp>
        <p:nvSpPr>
          <p:cNvPr id="52" name="Shape 46"/>
          <p:cNvSpPr/>
          <p:nvPr/>
        </p:nvSpPr>
        <p:spPr>
          <a:xfrm>
            <a:off x="4846320" y="3236976"/>
            <a:ext cx="256032" cy="256032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53" name="Text 47"/>
          <p:cNvSpPr/>
          <p:nvPr/>
        </p:nvSpPr>
        <p:spPr>
          <a:xfrm>
            <a:off x="4846320" y="3236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54" name="Text 48"/>
          <p:cNvSpPr/>
          <p:nvPr/>
        </p:nvSpPr>
        <p:spPr>
          <a:xfrm>
            <a:off x="5193792" y="320040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submitTransaction() → Horizon API</a:t>
            </a:r>
            <a:endParaRPr lang="en-US" sz="950" dirty="0"/>
          </a:p>
        </p:txBody>
      </p:sp>
      <p:sp>
        <p:nvSpPr>
          <p:cNvPr id="55" name="Text 49"/>
          <p:cNvSpPr/>
          <p:nvPr/>
        </p:nvSpPr>
        <p:spPr>
          <a:xfrm>
            <a:off x="5193792" y="340156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 seconds to confirmed</a:t>
            </a:r>
            <a:endParaRPr lang="en-US" sz="800" dirty="0"/>
          </a:p>
        </p:txBody>
      </p:sp>
      <p:sp>
        <p:nvSpPr>
          <p:cNvPr id="56" name="Shape 50"/>
          <p:cNvSpPr/>
          <p:nvPr/>
        </p:nvSpPr>
        <p:spPr>
          <a:xfrm>
            <a:off x="4974336" y="3502152"/>
            <a:ext cx="0" cy="118872"/>
          </a:xfrm>
          <a:prstGeom prst="line">
            <a:avLst/>
          </a:prstGeom>
          <a:noFill/>
          <a:ln w="12700">
            <a:solidFill>
              <a:srgbClr val="2A5F9E"/>
            </a:solidFill>
            <a:prstDash val="solid"/>
          </a:ln>
        </p:spPr>
      </p:sp>
      <p:sp>
        <p:nvSpPr>
          <p:cNvPr id="57" name="Shape 51"/>
          <p:cNvSpPr/>
          <p:nvPr/>
        </p:nvSpPr>
        <p:spPr>
          <a:xfrm>
            <a:off x="4846320" y="3666744"/>
            <a:ext cx="256032" cy="256032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58" name="Text 52"/>
          <p:cNvSpPr/>
          <p:nvPr/>
        </p:nvSpPr>
        <p:spPr>
          <a:xfrm>
            <a:off x="4846320" y="3666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59" name="Text 53"/>
          <p:cNvSpPr/>
          <p:nvPr/>
        </p:nvSpPr>
        <p:spPr>
          <a:xfrm>
            <a:off x="5193792" y="363016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Recipient clicks Magic Link</a:t>
            </a:r>
            <a:endParaRPr lang="en-US" sz="950" dirty="0"/>
          </a:p>
        </p:txBody>
      </p:sp>
      <p:sp>
        <p:nvSpPr>
          <p:cNvPr id="60" name="Text 54"/>
          <p:cNvSpPr/>
          <p:nvPr/>
        </p:nvSpPr>
        <p:spPr>
          <a:xfrm>
            <a:off x="5193792" y="383133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/claim?code=&lt;id&gt;</a:t>
            </a:r>
            <a:endParaRPr lang="en-US" sz="800" dirty="0"/>
          </a:p>
        </p:txBody>
      </p:sp>
      <p:sp>
        <p:nvSpPr>
          <p:cNvPr id="61" name="Shape 55"/>
          <p:cNvSpPr/>
          <p:nvPr/>
        </p:nvSpPr>
        <p:spPr>
          <a:xfrm>
            <a:off x="4974336" y="3931920"/>
            <a:ext cx="0" cy="118872"/>
          </a:xfrm>
          <a:prstGeom prst="line">
            <a:avLst/>
          </a:prstGeom>
          <a:noFill/>
          <a:ln w="12700">
            <a:solidFill>
              <a:srgbClr val="2A5F9E"/>
            </a:solidFill>
            <a:prstDash val="solid"/>
          </a:ln>
        </p:spPr>
      </p:sp>
      <p:sp>
        <p:nvSpPr>
          <p:cNvPr id="62" name="Shape 56"/>
          <p:cNvSpPr/>
          <p:nvPr/>
        </p:nvSpPr>
        <p:spPr>
          <a:xfrm>
            <a:off x="4846320" y="4096512"/>
            <a:ext cx="256032" cy="256032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63" name="Text 57"/>
          <p:cNvSpPr/>
          <p:nvPr/>
        </p:nvSpPr>
        <p:spPr>
          <a:xfrm>
            <a:off x="4846320" y="4096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64" name="Text 58"/>
          <p:cNvSpPr/>
          <p:nvPr/>
        </p:nvSpPr>
        <p:spPr>
          <a:xfrm>
            <a:off x="5193792" y="405993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API verifies memo + Firestore</a:t>
            </a:r>
            <a:endParaRPr lang="en-US" sz="950" dirty="0"/>
          </a:p>
        </p:txBody>
      </p:sp>
      <p:sp>
        <p:nvSpPr>
          <p:cNvPr id="65" name="Text 59"/>
          <p:cNvSpPr/>
          <p:nvPr/>
        </p:nvSpPr>
        <p:spPr>
          <a:xfrm>
            <a:off x="5193792" y="426110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Horizon query</a:t>
            </a:r>
            <a:endParaRPr lang="en-US" sz="800" dirty="0"/>
          </a:p>
        </p:txBody>
      </p:sp>
      <p:sp>
        <p:nvSpPr>
          <p:cNvPr id="66" name="Shape 60"/>
          <p:cNvSpPr/>
          <p:nvPr/>
        </p:nvSpPr>
        <p:spPr>
          <a:xfrm>
            <a:off x="4974336" y="4361688"/>
            <a:ext cx="0" cy="118872"/>
          </a:xfrm>
          <a:prstGeom prst="line">
            <a:avLst/>
          </a:prstGeom>
          <a:noFill/>
          <a:ln w="12700">
            <a:solidFill>
              <a:srgbClr val="2A5F9E"/>
            </a:solidFill>
            <a:prstDash val="solid"/>
          </a:ln>
        </p:spPr>
      </p:sp>
      <p:sp>
        <p:nvSpPr>
          <p:cNvPr id="67" name="Shape 61"/>
          <p:cNvSpPr/>
          <p:nvPr/>
        </p:nvSpPr>
        <p:spPr>
          <a:xfrm>
            <a:off x="4846320" y="4526280"/>
            <a:ext cx="256032" cy="25603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8" name="Text 62"/>
          <p:cNvSpPr/>
          <p:nvPr/>
        </p:nvSpPr>
        <p:spPr>
          <a:xfrm>
            <a:off x="4846320" y="4526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69" name="Text 63"/>
          <p:cNvSpPr/>
          <p:nvPr/>
        </p:nvSpPr>
        <p:spPr>
          <a:xfrm>
            <a:off x="5193792" y="448970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Recipient withdraws to e-wallet</a:t>
            </a:r>
            <a:endParaRPr lang="en-US" sz="950" dirty="0"/>
          </a:p>
        </p:txBody>
      </p:sp>
      <p:sp>
        <p:nvSpPr>
          <p:cNvPr id="70" name="Text 64"/>
          <p:cNvSpPr/>
          <p:nvPr/>
        </p:nvSpPr>
        <p:spPr>
          <a:xfrm>
            <a:off x="5193792" y="469087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cash-out: USDC → IDR/PHP/VND</a:t>
            </a:r>
            <a:endParaRPr lang="en-US" sz="800" dirty="0"/>
          </a:p>
        </p:txBody>
      </p:sp>
      <p:sp>
        <p:nvSpPr>
          <p:cNvPr id="71" name="Shape 65"/>
          <p:cNvSpPr/>
          <p:nvPr/>
        </p:nvSpPr>
        <p:spPr>
          <a:xfrm>
            <a:off x="0" y="4956048"/>
            <a:ext cx="91440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2" name="Text 66"/>
          <p:cNvSpPr/>
          <p:nvPr/>
        </p:nvSpPr>
        <p:spPr>
          <a:xfrm>
            <a:off x="411480" y="49834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StellarNest  ·  APAC Stellar Hackathon 2026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08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MVP Status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built, what's live, what's proven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256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STELLARNEST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8595360" cy="475488"/>
          </a:xfrm>
          <a:prstGeom prst="rect">
            <a:avLst/>
          </a:prstGeom>
          <a:solidFill>
            <a:srgbClr val="16A34A">
              <a:alpha val="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960120"/>
            <a:ext cx="54864" cy="47548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6012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LIVE ON VERCEL — https://stellarnest-omega.vercel.app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36192"/>
            <a:ext cx="27432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536192"/>
            <a:ext cx="54864" cy="7498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Shape 9"/>
          <p:cNvSpPr/>
          <p:nvPr/>
        </p:nvSpPr>
        <p:spPr>
          <a:xfrm>
            <a:off x="402336" y="1609344"/>
            <a:ext cx="384048" cy="164592"/>
          </a:xfrm>
          <a:prstGeom prst="rect">
            <a:avLst/>
          </a:prstGeom>
          <a:solidFill>
            <a:srgbClr val="2563EB">
              <a:alpha val="13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" y="1609344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02336" y="181051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&amp; Registration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02336" y="2048256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Auth with email/password. New users upsert to Firestore with setDoc merge. Session persistence across reloads.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154680" y="1536192"/>
            <a:ext cx="27432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1536192"/>
            <a:ext cx="54864" cy="7498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7" name="Shape 15"/>
          <p:cNvSpPr/>
          <p:nvPr/>
        </p:nvSpPr>
        <p:spPr>
          <a:xfrm>
            <a:off x="3282696" y="1609344"/>
            <a:ext cx="384048" cy="164592"/>
          </a:xfrm>
          <a:prstGeom prst="rect">
            <a:avLst/>
          </a:prstGeom>
          <a:solidFill>
            <a:srgbClr val="2563EB">
              <a:alpha val="13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355848" y="1609344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282696" y="181051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Money — Magic Links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82696" y="2048256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createClaim() writes to localStorage synchronously. Firestore async sync. 'Generate Magic Link' button now functional. All E2E tests passing.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035040" y="1536192"/>
            <a:ext cx="27432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1536192"/>
            <a:ext cx="54864" cy="7498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Shape 21"/>
          <p:cNvSpPr/>
          <p:nvPr/>
        </p:nvSpPr>
        <p:spPr>
          <a:xfrm>
            <a:off x="6163056" y="1609344"/>
            <a:ext cx="384048" cy="164592"/>
          </a:xfrm>
          <a:prstGeom prst="rect">
            <a:avLst/>
          </a:prstGeom>
          <a:solidFill>
            <a:srgbClr val="2563EB">
              <a:alpha val="13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236208" y="1609344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163056" y="181051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Recipient Management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163056" y="2048256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up to 20 recipients. Deduplication by account number. LocalStorage + Firestore sync. Recipient picker with chip selection.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74320" y="2249424"/>
            <a:ext cx="27432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2249424"/>
            <a:ext cx="54864" cy="7498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9" name="Shape 27"/>
          <p:cNvSpPr/>
          <p:nvPr/>
        </p:nvSpPr>
        <p:spPr>
          <a:xfrm>
            <a:off x="402336" y="2322576"/>
            <a:ext cx="384048" cy="164592"/>
          </a:xfrm>
          <a:prstGeom prst="rect">
            <a:avLst/>
          </a:prstGeom>
          <a:solidFill>
            <a:srgbClr val="2563EB">
              <a:alpha val="13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" y="232257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02336" y="2523744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Flow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02336" y="276148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page reads CLAIM:&lt;id&gt; from URL. Pre-fills sender info and amount. Withdraw form with e-wallet selection. Firestore read for claim verification.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154680" y="2249424"/>
            <a:ext cx="27432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54680" y="2249424"/>
            <a:ext cx="54864" cy="7498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5" name="Shape 33"/>
          <p:cNvSpPr/>
          <p:nvPr/>
        </p:nvSpPr>
        <p:spPr>
          <a:xfrm>
            <a:off x="3282696" y="2322576"/>
            <a:ext cx="384048" cy="164592"/>
          </a:xfrm>
          <a:prstGeom prst="rect">
            <a:avLst/>
          </a:prstGeom>
          <a:solidFill>
            <a:srgbClr val="2563EB">
              <a:alpha val="13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3355848" y="232257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282696" y="2523744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History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282696" y="276148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page reads from localStorage. YTD income, savings breakdown, exportable Proof of Income. On-chain verifiable data.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035040" y="2249424"/>
            <a:ext cx="27432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035040" y="2249424"/>
            <a:ext cx="54864" cy="7498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1" name="Shape 39"/>
          <p:cNvSpPr/>
          <p:nvPr/>
        </p:nvSpPr>
        <p:spPr>
          <a:xfrm>
            <a:off x="6163056" y="2322576"/>
            <a:ext cx="384048" cy="164592"/>
          </a:xfrm>
          <a:prstGeom prst="rect">
            <a:avLst/>
          </a:prstGeom>
          <a:solidFill>
            <a:srgbClr val="2563EB">
              <a:alpha val="13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236208" y="232257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163056" y="2523744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&amp; Insights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163056" y="276148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balance display, family/savings split chart, monthly income timeline. All pulling from localStorage + Firestore.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74320" y="2962656"/>
            <a:ext cx="27432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74320" y="2962656"/>
            <a:ext cx="54864" cy="7498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7" name="Shape 45"/>
          <p:cNvSpPr/>
          <p:nvPr/>
        </p:nvSpPr>
        <p:spPr>
          <a:xfrm>
            <a:off x="402336" y="3035808"/>
            <a:ext cx="384048" cy="164592"/>
          </a:xfrm>
          <a:prstGeom prst="rect">
            <a:avLst/>
          </a:prstGeom>
          <a:solidFill>
            <a:srgbClr val="2563EB">
              <a:alpha val="13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475488" y="303580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02336" y="3236976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Stellar SDK Integration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02336" y="3474720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stellar-sdk v16. Transaction building, memo attachment (CLAIM:&lt;id&gt;), Horizon API read for claim verification. Testnet + USDC.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154680" y="2962656"/>
            <a:ext cx="27432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3154680" y="2962656"/>
            <a:ext cx="54864" cy="7498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3" name="Shape 51"/>
          <p:cNvSpPr/>
          <p:nvPr/>
        </p:nvSpPr>
        <p:spPr>
          <a:xfrm>
            <a:off x="3282696" y="3035808"/>
            <a:ext cx="384048" cy="164592"/>
          </a:xfrm>
          <a:prstGeom prst="rect">
            <a:avLst/>
          </a:prstGeom>
          <a:solidFill>
            <a:srgbClr val="2563EB">
              <a:alpha val="13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3355848" y="303580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3282696" y="3236976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Test Suite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3282696" y="3474720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automated Playwright tests — registration, send, claim, withdraw, history, settings. 100% pass rate. Full CI-ready script.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035040" y="2962656"/>
            <a:ext cx="27432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035040" y="2962656"/>
            <a:ext cx="54864" cy="74980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9" name="Shape 57"/>
          <p:cNvSpPr/>
          <p:nvPr/>
        </p:nvSpPr>
        <p:spPr>
          <a:xfrm>
            <a:off x="6163056" y="3035808"/>
            <a:ext cx="800100" cy="164592"/>
          </a:xfrm>
          <a:prstGeom prst="rect">
            <a:avLst/>
          </a:prstGeom>
          <a:solidFill>
            <a:srgbClr val="2563EB">
              <a:alpha val="13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6236208" y="3035808"/>
            <a:ext cx="7269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6163056" y="3236976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/ Off-Ramp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6163056" y="3474720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with Indonesian anchors (PT Stellarindo, V FINANCIAL) in progress. USDC → IDR/PHP/VND via anchor API.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274320" y="3675888"/>
            <a:ext cx="27432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274320" y="3675888"/>
            <a:ext cx="54864" cy="7498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5" name="Shape 63"/>
          <p:cNvSpPr/>
          <p:nvPr/>
        </p:nvSpPr>
        <p:spPr>
          <a:xfrm>
            <a:off x="402336" y="3749040"/>
            <a:ext cx="384048" cy="164592"/>
          </a:xfrm>
          <a:prstGeom prst="rect">
            <a:avLst/>
          </a:prstGeom>
          <a:solidFill>
            <a:srgbClr val="2563EB">
              <a:alpha val="13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475488" y="3749040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402336" y="3950208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Split-Routing Enforcement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402336" y="4187952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Multi-sig or payment paths to enforce 70/30 split at protocol level. Currently split is UI-only (ledger flexibility exists). 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0" y="4956048"/>
            <a:ext cx="91440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0" name="Text 68"/>
          <p:cNvSpPr/>
          <p:nvPr/>
        </p:nvSpPr>
        <p:spPr>
          <a:xfrm>
            <a:off x="411480" y="49834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StellarNest  ·  APAC Stellar Hackathon 2026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08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· Firebase · Stellar SDK v16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256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STELLARNEST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74320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60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27432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384048" y="1600200"/>
            <a:ext cx="310896" cy="310896"/>
          </a:xfrm>
          <a:prstGeom prst="ellipse">
            <a:avLst/>
          </a:prstGeom>
          <a:solidFill>
            <a:srgbClr val="2563EB">
              <a:alpha val="13000"/>
            </a:srgbClr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645920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15087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SPA (Vite dev server)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2084832"/>
            <a:ext cx="2743200" cy="50292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3" name="Shape 10"/>
          <p:cNvSpPr/>
          <p:nvPr/>
        </p:nvSpPr>
        <p:spPr>
          <a:xfrm>
            <a:off x="384048" y="2176272"/>
            <a:ext cx="310896" cy="310896"/>
          </a:xfrm>
          <a:prstGeom prst="ellipse">
            <a:avLst/>
          </a:prstGeom>
          <a:solidFill>
            <a:srgbClr val="2563EB">
              <a:alpha val="13000"/>
            </a:srgb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2221992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77240" y="208483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Router 7 — client routing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274320" y="2660904"/>
            <a:ext cx="27432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3"/>
          <p:cNvSpPr/>
          <p:nvPr/>
        </p:nvSpPr>
        <p:spPr>
          <a:xfrm>
            <a:off x="384048" y="2752344"/>
            <a:ext cx="310896" cy="310896"/>
          </a:xfrm>
          <a:prstGeom prst="ellipse">
            <a:avLst/>
          </a:prstGeom>
          <a:solidFill>
            <a:srgbClr val="2563EB">
              <a:alpha val="13000"/>
            </a:srgbClr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798064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77240" y="266090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deployment — edge CDN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274320" y="3236976"/>
            <a:ext cx="2743200" cy="50292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1" name="Shape 16"/>
          <p:cNvSpPr/>
          <p:nvPr/>
        </p:nvSpPr>
        <p:spPr>
          <a:xfrm>
            <a:off x="384048" y="3328416"/>
            <a:ext cx="310896" cy="310896"/>
          </a:xfrm>
          <a:prstGeom prst="ellipse">
            <a:avLst/>
          </a:prstGeom>
          <a:solidFill>
            <a:srgbClr val="2563EB">
              <a:alpha val="13000"/>
            </a:srgbClr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3374136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7240" y="3236976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Send, Claim, Withdraw, History pages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274320" y="3813048"/>
            <a:ext cx="27432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19"/>
          <p:cNvSpPr/>
          <p:nvPr/>
        </p:nvSpPr>
        <p:spPr>
          <a:xfrm>
            <a:off x="384048" y="3904488"/>
            <a:ext cx="310896" cy="310896"/>
          </a:xfrm>
          <a:prstGeom prst="ellipse">
            <a:avLst/>
          </a:prstGeom>
          <a:solidFill>
            <a:srgbClr val="2563EB">
              <a:alpha val="13000"/>
            </a:srgbClr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3950208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77240" y="381304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Insights: YTD, charts, PDF export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274320" y="4389120"/>
            <a:ext cx="2743200" cy="50292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9" name="Shape 22"/>
          <p:cNvSpPr/>
          <p:nvPr/>
        </p:nvSpPr>
        <p:spPr>
          <a:xfrm>
            <a:off x="384048" y="4480560"/>
            <a:ext cx="310896" cy="310896"/>
          </a:xfrm>
          <a:prstGeom prst="ellipse">
            <a:avLst/>
          </a:prstGeom>
          <a:solidFill>
            <a:srgbClr val="2563EB">
              <a:alpha val="13000"/>
            </a:srgbClr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" y="4526280"/>
            <a:ext cx="219456" cy="21945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77240" y="43891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AES-256-GCM client-side encryption</a:t>
            </a:r>
            <a:endParaRPr lang="en-US" sz="950" dirty="0"/>
          </a:p>
        </p:txBody>
      </p:sp>
      <p:sp>
        <p:nvSpPr>
          <p:cNvPr id="32" name="Shape 24"/>
          <p:cNvSpPr/>
          <p:nvPr/>
        </p:nvSpPr>
        <p:spPr>
          <a:xfrm>
            <a:off x="3200400" y="960120"/>
            <a:ext cx="274320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Text 25"/>
          <p:cNvSpPr/>
          <p:nvPr/>
        </p:nvSpPr>
        <p:spPr>
          <a:xfrm>
            <a:off x="3337560" y="960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Sync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3200400" y="1508760"/>
            <a:ext cx="27432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27"/>
          <p:cNvSpPr/>
          <p:nvPr/>
        </p:nvSpPr>
        <p:spPr>
          <a:xfrm>
            <a:off x="3310128" y="1600200"/>
            <a:ext cx="310896" cy="310896"/>
          </a:xfrm>
          <a:prstGeom prst="ellipse">
            <a:avLst/>
          </a:prstGeom>
          <a:solidFill>
            <a:srgbClr val="2563EB">
              <a:alpha val="13000"/>
            </a:srgbClr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5848" y="1645920"/>
            <a:ext cx="219456" cy="21945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3703320" y="15087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localStorage: offline-first writes</a:t>
            </a:r>
            <a:endParaRPr lang="en-US" sz="950" dirty="0"/>
          </a:p>
        </p:txBody>
      </p:sp>
      <p:sp>
        <p:nvSpPr>
          <p:cNvPr id="38" name="Shape 29"/>
          <p:cNvSpPr/>
          <p:nvPr/>
        </p:nvSpPr>
        <p:spPr>
          <a:xfrm>
            <a:off x="3200400" y="2084832"/>
            <a:ext cx="2743200" cy="50292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9" name="Shape 30"/>
          <p:cNvSpPr/>
          <p:nvPr/>
        </p:nvSpPr>
        <p:spPr>
          <a:xfrm>
            <a:off x="3310128" y="2176272"/>
            <a:ext cx="310896" cy="310896"/>
          </a:xfrm>
          <a:prstGeom prst="ellipse">
            <a:avLst/>
          </a:prstGeom>
          <a:solidFill>
            <a:srgbClr val="2563EB">
              <a:alpha val="13000"/>
            </a:srgbClr>
          </a:solidFill>
          <a:ln/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5848" y="2221992"/>
            <a:ext cx="219456" cy="219456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3703320" y="208483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Firestore: async sync</a:t>
            </a:r>
            <a:endParaRPr lang="en-US" sz="950" dirty="0"/>
          </a:p>
        </p:txBody>
      </p:sp>
      <p:sp>
        <p:nvSpPr>
          <p:cNvPr id="42" name="Shape 32"/>
          <p:cNvSpPr/>
          <p:nvPr/>
        </p:nvSpPr>
        <p:spPr>
          <a:xfrm>
            <a:off x="3200400" y="2660904"/>
            <a:ext cx="27432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33"/>
          <p:cNvSpPr/>
          <p:nvPr/>
        </p:nvSpPr>
        <p:spPr>
          <a:xfrm>
            <a:off x="3310128" y="2752344"/>
            <a:ext cx="310896" cy="310896"/>
          </a:xfrm>
          <a:prstGeom prst="ellipse">
            <a:avLst/>
          </a:prstGeom>
          <a:solidFill>
            <a:srgbClr val="2563EB">
              <a:alpha val="13000"/>
            </a:srgbClr>
          </a:solidFill>
          <a:ln/>
        </p:spPr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55848" y="2798064"/>
            <a:ext cx="219456" cy="219456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3703320" y="266090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+ Claims: write-through cache</a:t>
            </a:r>
            <a:endParaRPr lang="en-US" sz="950" dirty="0"/>
          </a:p>
        </p:txBody>
      </p:sp>
      <p:sp>
        <p:nvSpPr>
          <p:cNvPr id="46" name="Shape 35"/>
          <p:cNvSpPr/>
          <p:nvPr/>
        </p:nvSpPr>
        <p:spPr>
          <a:xfrm>
            <a:off x="3200400" y="3236976"/>
            <a:ext cx="2743200" cy="50292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47" name="Shape 36"/>
          <p:cNvSpPr/>
          <p:nvPr/>
        </p:nvSpPr>
        <p:spPr>
          <a:xfrm>
            <a:off x="3310128" y="3328416"/>
            <a:ext cx="310896" cy="310896"/>
          </a:xfrm>
          <a:prstGeom prst="ellipse">
            <a:avLst/>
          </a:prstGeom>
          <a:solidFill>
            <a:srgbClr val="2563EB">
              <a:alpha val="13000"/>
            </a:srgbClr>
          </a:solidFill>
          <a:ln/>
        </p:spPr>
      </p:sp>
      <p:pic>
        <p:nvPicPr>
          <p:cNvPr id="4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55848" y="3374136"/>
            <a:ext cx="219456" cy="219456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3703320" y="3236976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Firestore security rules: read own data</a:t>
            </a:r>
            <a:endParaRPr lang="en-US" sz="950" dirty="0"/>
          </a:p>
        </p:txBody>
      </p:sp>
      <p:sp>
        <p:nvSpPr>
          <p:cNvPr id="50" name="Shape 38"/>
          <p:cNvSpPr/>
          <p:nvPr/>
        </p:nvSpPr>
        <p:spPr>
          <a:xfrm>
            <a:off x="3200400" y="3813048"/>
            <a:ext cx="27432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Shape 39"/>
          <p:cNvSpPr/>
          <p:nvPr/>
        </p:nvSpPr>
        <p:spPr>
          <a:xfrm>
            <a:off x="3310128" y="3904488"/>
            <a:ext cx="310896" cy="310896"/>
          </a:xfrm>
          <a:prstGeom prst="ellipse">
            <a:avLst/>
          </a:prstGeom>
          <a:solidFill>
            <a:srgbClr val="2563EB">
              <a:alpha val="13000"/>
            </a:srgbClr>
          </a:solidFill>
          <a:ln/>
        </p:spPr>
      </p:sp>
      <p:pic>
        <p:nvPicPr>
          <p:cNvPr id="5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55848" y="3950208"/>
            <a:ext cx="219456" cy="219456"/>
          </a:xfrm>
          <a:prstGeom prst="rect">
            <a:avLst/>
          </a:prstGeom>
        </p:spPr>
      </p:pic>
      <p:sp>
        <p:nvSpPr>
          <p:cNvPr id="53" name="Text 40"/>
          <p:cNvSpPr/>
          <p:nvPr/>
        </p:nvSpPr>
        <p:spPr>
          <a:xfrm>
            <a:off x="3703320" y="381304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Encrypted secrets: PBKDF2 100k rounds</a:t>
            </a:r>
            <a:endParaRPr lang="en-US" sz="950" dirty="0"/>
          </a:p>
        </p:txBody>
      </p:sp>
      <p:sp>
        <p:nvSpPr>
          <p:cNvPr id="54" name="Shape 41"/>
          <p:cNvSpPr/>
          <p:nvPr/>
        </p:nvSpPr>
        <p:spPr>
          <a:xfrm>
            <a:off x="3200400" y="4389120"/>
            <a:ext cx="2743200" cy="50292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55" name="Shape 42"/>
          <p:cNvSpPr/>
          <p:nvPr/>
        </p:nvSpPr>
        <p:spPr>
          <a:xfrm>
            <a:off x="3310128" y="4480560"/>
            <a:ext cx="310896" cy="310896"/>
          </a:xfrm>
          <a:prstGeom prst="ellipse">
            <a:avLst/>
          </a:prstGeom>
          <a:solidFill>
            <a:srgbClr val="2563EB">
              <a:alpha val="13000"/>
            </a:srgbClr>
          </a:solidFill>
          <a:ln/>
        </p:spPr>
      </p:sp>
      <p:pic>
        <p:nvPicPr>
          <p:cNvPr id="5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55848" y="4526280"/>
            <a:ext cx="219456" cy="219456"/>
          </a:xfrm>
          <a:prstGeom prst="rect">
            <a:avLst/>
          </a:prstGeom>
        </p:spPr>
      </p:pic>
      <p:sp>
        <p:nvSpPr>
          <p:cNvPr id="57" name="Text 43"/>
          <p:cNvSpPr/>
          <p:nvPr/>
        </p:nvSpPr>
        <p:spPr>
          <a:xfrm>
            <a:off x="3703320" y="43891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Optimistic UI updates — no blocking</a:t>
            </a:r>
            <a:endParaRPr lang="en-US" sz="950" dirty="0"/>
          </a:p>
        </p:txBody>
      </p:sp>
      <p:sp>
        <p:nvSpPr>
          <p:cNvPr id="58" name="Shape 44"/>
          <p:cNvSpPr/>
          <p:nvPr/>
        </p:nvSpPr>
        <p:spPr>
          <a:xfrm>
            <a:off x="6126480" y="960120"/>
            <a:ext cx="2743200" cy="4572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59" name="Text 45"/>
          <p:cNvSpPr/>
          <p:nvPr/>
        </p:nvSpPr>
        <p:spPr>
          <a:xfrm>
            <a:off x="6263640" y="960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</a:t>
            </a:r>
            <a:endParaRPr lang="en-US" sz="1300" dirty="0"/>
          </a:p>
        </p:txBody>
      </p:sp>
      <p:sp>
        <p:nvSpPr>
          <p:cNvPr id="60" name="Shape 46"/>
          <p:cNvSpPr/>
          <p:nvPr/>
        </p:nvSpPr>
        <p:spPr>
          <a:xfrm>
            <a:off x="6126480" y="1508760"/>
            <a:ext cx="27432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Shape 47"/>
          <p:cNvSpPr/>
          <p:nvPr/>
        </p:nvSpPr>
        <p:spPr>
          <a:xfrm>
            <a:off x="6236208" y="1600200"/>
            <a:ext cx="310896" cy="310896"/>
          </a:xfrm>
          <a:prstGeom prst="ellipse">
            <a:avLst/>
          </a:prstGeom>
          <a:solidFill>
            <a:srgbClr val="2563EB">
              <a:alpha val="13000"/>
            </a:srgbClr>
          </a:solidFill>
          <a:ln/>
        </p:spPr>
      </p:sp>
      <p:sp>
        <p:nvSpPr>
          <p:cNvPr id="62" name="Text 48"/>
          <p:cNvSpPr/>
          <p:nvPr/>
        </p:nvSpPr>
        <p:spPr>
          <a:xfrm>
            <a:off x="6629400" y="15087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Stellar SDK v16 — testnet + USDC</a:t>
            </a:r>
            <a:endParaRPr lang="en-US" sz="950" dirty="0"/>
          </a:p>
        </p:txBody>
      </p:sp>
      <p:sp>
        <p:nvSpPr>
          <p:cNvPr id="63" name="Shape 49"/>
          <p:cNvSpPr/>
          <p:nvPr/>
        </p:nvSpPr>
        <p:spPr>
          <a:xfrm>
            <a:off x="6126480" y="2084832"/>
            <a:ext cx="2743200" cy="50292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64" name="Shape 50"/>
          <p:cNvSpPr/>
          <p:nvPr/>
        </p:nvSpPr>
        <p:spPr>
          <a:xfrm>
            <a:off x="6236208" y="2176272"/>
            <a:ext cx="310896" cy="310896"/>
          </a:xfrm>
          <a:prstGeom prst="ellipse">
            <a:avLst/>
          </a:prstGeom>
          <a:solidFill>
            <a:srgbClr val="2563EB">
              <a:alpha val="13000"/>
            </a:srgbClr>
          </a:solidFill>
          <a:ln/>
        </p:spPr>
      </p:sp>
      <p:pic>
        <p:nvPicPr>
          <p:cNvPr id="6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81928" y="2221992"/>
            <a:ext cx="219456" cy="219456"/>
          </a:xfrm>
          <a:prstGeom prst="rect">
            <a:avLst/>
          </a:prstGeom>
        </p:spPr>
      </p:pic>
      <p:sp>
        <p:nvSpPr>
          <p:cNvPr id="66" name="Text 51"/>
          <p:cNvSpPr/>
          <p:nvPr/>
        </p:nvSpPr>
        <p:spPr>
          <a:xfrm>
            <a:off x="6629400" y="208483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3–5s tx finality (vs 2–3 days traditional)</a:t>
            </a:r>
            <a:endParaRPr lang="en-US" sz="950" dirty="0"/>
          </a:p>
        </p:txBody>
      </p:sp>
      <p:sp>
        <p:nvSpPr>
          <p:cNvPr id="67" name="Shape 52"/>
          <p:cNvSpPr/>
          <p:nvPr/>
        </p:nvSpPr>
        <p:spPr>
          <a:xfrm>
            <a:off x="6126480" y="2660904"/>
            <a:ext cx="27432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Shape 53"/>
          <p:cNvSpPr/>
          <p:nvPr/>
        </p:nvSpPr>
        <p:spPr>
          <a:xfrm>
            <a:off x="6236208" y="2752344"/>
            <a:ext cx="310896" cy="310896"/>
          </a:xfrm>
          <a:prstGeom prst="ellipse">
            <a:avLst/>
          </a:prstGeom>
          <a:solidFill>
            <a:srgbClr val="2563EB">
              <a:alpha val="13000"/>
            </a:srgbClr>
          </a:solidFill>
          <a:ln/>
        </p:spPr>
      </p:sp>
      <p:pic>
        <p:nvPicPr>
          <p:cNvPr id="6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81928" y="2798064"/>
            <a:ext cx="219456" cy="219456"/>
          </a:xfrm>
          <a:prstGeom prst="rect">
            <a:avLst/>
          </a:prstGeom>
        </p:spPr>
      </p:pic>
      <p:sp>
        <p:nvSpPr>
          <p:cNvPr id="70" name="Text 54"/>
          <p:cNvSpPr/>
          <p:nvPr/>
        </p:nvSpPr>
        <p:spPr>
          <a:xfrm>
            <a:off x="6629400" y="266090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USDC stablecoin — no volatile exposure</a:t>
            </a:r>
            <a:endParaRPr lang="en-US" sz="950" dirty="0"/>
          </a:p>
        </p:txBody>
      </p:sp>
      <p:sp>
        <p:nvSpPr>
          <p:cNvPr id="71" name="Shape 55"/>
          <p:cNvSpPr/>
          <p:nvPr/>
        </p:nvSpPr>
        <p:spPr>
          <a:xfrm>
            <a:off x="6126480" y="3236976"/>
            <a:ext cx="2743200" cy="50292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72" name="Shape 56"/>
          <p:cNvSpPr/>
          <p:nvPr/>
        </p:nvSpPr>
        <p:spPr>
          <a:xfrm>
            <a:off x="6236208" y="3328416"/>
            <a:ext cx="310896" cy="310896"/>
          </a:xfrm>
          <a:prstGeom prst="ellipse">
            <a:avLst/>
          </a:prstGeom>
          <a:solidFill>
            <a:srgbClr val="2563EB">
              <a:alpha val="13000"/>
            </a:srgbClr>
          </a:solidFill>
          <a:ln/>
        </p:spPr>
      </p:sp>
      <p:pic>
        <p:nvPicPr>
          <p:cNvPr id="7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81928" y="3374136"/>
            <a:ext cx="219456" cy="219456"/>
          </a:xfrm>
          <a:prstGeom prst="rect">
            <a:avLst/>
          </a:prstGeom>
        </p:spPr>
      </p:pic>
      <p:sp>
        <p:nvSpPr>
          <p:cNvPr id="74" name="Text 57"/>
          <p:cNvSpPr/>
          <p:nvPr/>
        </p:nvSpPr>
        <p:spPr>
          <a:xfrm>
            <a:off x="6629400" y="3236976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Multi-currency rails: ID/PH/VN/TH/MY/SG</a:t>
            </a:r>
            <a:endParaRPr lang="en-US" sz="950" dirty="0"/>
          </a:p>
        </p:txBody>
      </p:sp>
      <p:sp>
        <p:nvSpPr>
          <p:cNvPr id="75" name="Shape 58"/>
          <p:cNvSpPr/>
          <p:nvPr/>
        </p:nvSpPr>
        <p:spPr>
          <a:xfrm>
            <a:off x="6126480" y="3813048"/>
            <a:ext cx="27432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6" name="Shape 59"/>
          <p:cNvSpPr/>
          <p:nvPr/>
        </p:nvSpPr>
        <p:spPr>
          <a:xfrm>
            <a:off x="6236208" y="3904488"/>
            <a:ext cx="310896" cy="310896"/>
          </a:xfrm>
          <a:prstGeom prst="ellipse">
            <a:avLst/>
          </a:prstGeom>
          <a:solidFill>
            <a:srgbClr val="2563EB">
              <a:alpha val="13000"/>
            </a:srgbClr>
          </a:solidFill>
          <a:ln/>
        </p:spPr>
      </p:sp>
      <p:pic>
        <p:nvPicPr>
          <p:cNvPr id="7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81928" y="3950208"/>
            <a:ext cx="219456" cy="219456"/>
          </a:xfrm>
          <a:prstGeom prst="rect">
            <a:avLst/>
          </a:prstGeom>
        </p:spPr>
      </p:pic>
      <p:sp>
        <p:nvSpPr>
          <p:cNvPr id="78" name="Text 60"/>
          <p:cNvSpPr/>
          <p:nvPr/>
        </p:nvSpPr>
        <p:spPr>
          <a:xfrm>
            <a:off x="6629400" y="381304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Claimable balance + custom memo linking</a:t>
            </a:r>
            <a:endParaRPr lang="en-US" sz="950" dirty="0"/>
          </a:p>
        </p:txBody>
      </p:sp>
      <p:sp>
        <p:nvSpPr>
          <p:cNvPr id="79" name="Shape 61"/>
          <p:cNvSpPr/>
          <p:nvPr/>
        </p:nvSpPr>
        <p:spPr>
          <a:xfrm>
            <a:off x="6126480" y="4389120"/>
            <a:ext cx="2743200" cy="50292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80" name="Shape 62"/>
          <p:cNvSpPr/>
          <p:nvPr/>
        </p:nvSpPr>
        <p:spPr>
          <a:xfrm>
            <a:off x="6236208" y="4480560"/>
            <a:ext cx="310896" cy="310896"/>
          </a:xfrm>
          <a:prstGeom prst="ellipse">
            <a:avLst/>
          </a:prstGeom>
          <a:solidFill>
            <a:srgbClr val="2563EB">
              <a:alpha val="13000"/>
            </a:srgbClr>
          </a:solidFill>
          <a:ln/>
        </p:spPr>
      </p:sp>
      <p:pic>
        <p:nvPicPr>
          <p:cNvPr id="81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81928" y="4526280"/>
            <a:ext cx="219456" cy="219456"/>
          </a:xfrm>
          <a:prstGeom prst="rect">
            <a:avLst/>
          </a:prstGeom>
        </p:spPr>
      </p:pic>
      <p:sp>
        <p:nvSpPr>
          <p:cNvPr id="82" name="Text 63"/>
          <p:cNvSpPr/>
          <p:nvPr/>
        </p:nvSpPr>
        <p:spPr>
          <a:xfrm>
            <a:off x="6629400" y="43891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off-ramp in progress (ID/PH/VN)</a:t>
            </a:r>
            <a:endParaRPr lang="en-US" sz="950" dirty="0"/>
          </a:p>
        </p:txBody>
      </p:sp>
      <p:sp>
        <p:nvSpPr>
          <p:cNvPr id="83" name="Shape 64"/>
          <p:cNvSpPr/>
          <p:nvPr/>
        </p:nvSpPr>
        <p:spPr>
          <a:xfrm>
            <a:off x="0" y="4956048"/>
            <a:ext cx="91440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84" name="Text 65"/>
          <p:cNvSpPr/>
          <p:nvPr/>
        </p:nvSpPr>
        <p:spPr>
          <a:xfrm>
            <a:off x="411480" y="49834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StellarNest  ·  APAC Stellar Hackathon 2026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08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Financial Identity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transaction builds a verifiable credit history on-chain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256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STELLARNEST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114800" cy="3749040"/>
          </a:xfrm>
          <a:prstGeom prst="rect">
            <a:avLst/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4114800" cy="475488"/>
          </a:xfrm>
          <a:prstGeom prst="rect">
            <a:avLst/>
          </a:prstGeom>
          <a:solidFill>
            <a:srgbClr val="1A408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 PROOF OF INCOME — on-chain verifiable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5727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783080" y="15727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Asep Sender  ·  GDEMOACCOUNT...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1901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783080" y="1901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1 — July 15, 2026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2311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YTD Income: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783080" y="22311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$2,650.00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2633472"/>
            <a:ext cx="3657600" cy="274320"/>
          </a:xfrm>
          <a:prstGeom prst="rect">
            <a:avLst/>
          </a:prstGeom>
          <a:solidFill>
            <a:srgbClr val="0D1F45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6334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15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63040" y="26334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+$500.00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14600" y="2633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Family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2935224"/>
            <a:ext cx="3657600" cy="274320"/>
          </a:xfrm>
          <a:prstGeom prst="rect">
            <a:avLst/>
          </a:prstGeom>
          <a:solidFill>
            <a:srgbClr val="0D1F45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93522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02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63040" y="29352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+$750.00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14600" y="29352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Family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3236976"/>
            <a:ext cx="3657600" cy="274320"/>
          </a:xfrm>
          <a:prstGeom prst="rect">
            <a:avLst/>
          </a:prstGeom>
          <a:solidFill>
            <a:srgbClr val="0D1F45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323697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10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463040" y="32369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+$600.00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514600" y="32369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Family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3538728"/>
            <a:ext cx="3657600" cy="274320"/>
          </a:xfrm>
          <a:prstGeom prst="rect">
            <a:avLst/>
          </a:prstGeom>
          <a:solidFill>
            <a:srgbClr val="0D1F45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35387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463040" y="35387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+$500.00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514600" y="35387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Family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2920" y="3840480"/>
            <a:ext cx="3657600" cy="274320"/>
          </a:xfrm>
          <a:prstGeom prst="rect">
            <a:avLst/>
          </a:prstGeom>
          <a:solidFill>
            <a:srgbClr val="0D1F45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38404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 08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463040" y="38404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+$300.00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514600" y="3840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Savings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02920" y="4297680"/>
            <a:ext cx="1920240" cy="32918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42976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 Export PDF Statement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0" y="960120"/>
            <a:ext cx="2057400" cy="13441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72000" y="960120"/>
            <a:ext cx="54864" cy="13441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9" name="Text 37"/>
          <p:cNvSpPr/>
          <p:nvPr/>
        </p:nvSpPr>
        <p:spPr>
          <a:xfrm>
            <a:off x="4709160" y="106984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🏦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5166360" y="10698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Auto-Generated Statement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709160" y="1508760"/>
            <a:ext cx="1792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PDF export from on-chain data. Any bank can verify income with a read-only API key — worker gives consent.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748272" y="960120"/>
            <a:ext cx="2057400" cy="13441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748272" y="960120"/>
            <a:ext cx="54864" cy="1344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4" name="Text 42"/>
          <p:cNvSpPr/>
          <p:nvPr/>
        </p:nvSpPr>
        <p:spPr>
          <a:xfrm>
            <a:off x="6885432" y="106984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7342632" y="10698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Application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885432" y="1508760"/>
            <a:ext cx="1792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queries on-chain income via read-only API key. Consistent 6-month history = instant verification, no paperwork.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0" y="2423160"/>
            <a:ext cx="2057400" cy="13441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572000" y="2423160"/>
            <a:ext cx="54864" cy="134416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9" name="Text 47"/>
          <p:cNvSpPr/>
          <p:nvPr/>
        </p:nvSpPr>
        <p:spPr>
          <a:xfrm>
            <a:off x="4709160" y="253288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5166360" y="25328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Micro-Loan Approval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709160" y="2971800"/>
            <a:ext cx="1792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on-chain income history enables auto-approved micro-loans up to $500. Interest rates negotiated by the worker.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748272" y="2423160"/>
            <a:ext cx="2057400" cy="13441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748272" y="2423160"/>
            <a:ext cx="54864" cy="134416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4" name="Text 52"/>
          <p:cNvSpPr/>
          <p:nvPr/>
        </p:nvSpPr>
        <p:spPr>
          <a:xfrm>
            <a:off x="6885432" y="253288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7342632" y="25328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Growth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6885432" y="2971800"/>
            <a:ext cx="1792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auto-savings split builds emergency funds on-chain. Workers with 6+ months of savings history get priority loan access.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0" y="4956048"/>
            <a:ext cx="91440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8" name="Text 56"/>
          <p:cNvSpPr/>
          <p:nvPr/>
        </p:nvSpPr>
        <p:spPr>
          <a:xfrm>
            <a:off x="411480" y="49834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StellarNest  ·  APAC Stellar Hackathon 2026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Opportunity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$150B remittance market where workers pay the highest fees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256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STELLARNEST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084832" cy="2194560"/>
          </a:xfrm>
          <a:prstGeom prst="rect">
            <a:avLst/>
          </a:prstGeom>
          <a:solidFill>
            <a:srgbClr val="1A408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2084832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078992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🇮🇩 Indonesia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426464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$18B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11480" y="196596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inbound remittance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2267712"/>
            <a:ext cx="1810512" cy="9144"/>
          </a:xfrm>
          <a:prstGeom prst="rect">
            <a:avLst/>
          </a:prstGeom>
          <a:solidFill>
            <a:srgbClr val="2A5F9E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340864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Workers: ~9M abroad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259689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fee: 5.2%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2926080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World Bank 2025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487168" y="960120"/>
            <a:ext cx="2084832" cy="2194560"/>
          </a:xfrm>
          <a:prstGeom prst="rect">
            <a:avLst/>
          </a:prstGeom>
          <a:solidFill>
            <a:srgbClr val="1A408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87168" y="960120"/>
            <a:ext cx="208483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2624328" y="1078992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🇵🇭 Philippines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24328" y="1426464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$38B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2624328" y="196596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inbound remittance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624328" y="2267712"/>
            <a:ext cx="1810512" cy="9144"/>
          </a:xfrm>
          <a:prstGeom prst="rect">
            <a:avLst/>
          </a:prstGeom>
          <a:solidFill>
            <a:srgbClr val="2A5F9E"/>
          </a:solidFill>
          <a:ln/>
        </p:spPr>
      </p:sp>
      <p:sp>
        <p:nvSpPr>
          <p:cNvPr id="21" name="Text 19"/>
          <p:cNvSpPr/>
          <p:nvPr/>
        </p:nvSpPr>
        <p:spPr>
          <a:xfrm>
            <a:off x="2624328" y="2340864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Workers: ~2.3M abroad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624328" y="259689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fee: 4.8%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624328" y="2926080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World Bank 2025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700016" y="960120"/>
            <a:ext cx="2084832" cy="2194560"/>
          </a:xfrm>
          <a:prstGeom prst="rect">
            <a:avLst/>
          </a:prstGeom>
          <a:solidFill>
            <a:srgbClr val="1A408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0016" y="960120"/>
            <a:ext cx="2084832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837176" y="1078992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🇻🇳 Vietnam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37176" y="1426464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$18B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4837176" y="196596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inbound remittance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37176" y="2267712"/>
            <a:ext cx="1810512" cy="9144"/>
          </a:xfrm>
          <a:prstGeom prst="rect">
            <a:avLst/>
          </a:prstGeom>
          <a:solidFill>
            <a:srgbClr val="2A5F9E"/>
          </a:solidFill>
          <a:ln/>
        </p:spPr>
      </p:sp>
      <p:sp>
        <p:nvSpPr>
          <p:cNvPr id="30" name="Text 28"/>
          <p:cNvSpPr/>
          <p:nvPr/>
        </p:nvSpPr>
        <p:spPr>
          <a:xfrm>
            <a:off x="4837176" y="2340864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Workers: ~3M abroad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37176" y="259689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fee: 5.5%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37176" y="2926080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World Bank 2025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912864" y="960120"/>
            <a:ext cx="2084832" cy="2194560"/>
          </a:xfrm>
          <a:prstGeom prst="rect">
            <a:avLst/>
          </a:prstGeom>
          <a:solidFill>
            <a:srgbClr val="1A408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912864" y="960120"/>
            <a:ext cx="2084832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5" name="Text 33"/>
          <p:cNvSpPr/>
          <p:nvPr/>
        </p:nvSpPr>
        <p:spPr>
          <a:xfrm>
            <a:off x="7050024" y="1078992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🌏 ASEAN Total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050024" y="1426464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$150B+</a:t>
            </a:r>
            <a:endParaRPr lang="en-US" sz="3400" dirty="0"/>
          </a:p>
        </p:txBody>
      </p:sp>
      <p:sp>
        <p:nvSpPr>
          <p:cNvPr id="37" name="Text 35"/>
          <p:cNvSpPr/>
          <p:nvPr/>
        </p:nvSpPr>
        <p:spPr>
          <a:xfrm>
            <a:off x="7050024" y="196596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inbound remittance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050024" y="2267712"/>
            <a:ext cx="1810512" cy="9144"/>
          </a:xfrm>
          <a:prstGeom prst="rect">
            <a:avLst/>
          </a:prstGeom>
          <a:solidFill>
            <a:srgbClr val="2A5F9E"/>
          </a:solidFill>
          <a:ln/>
        </p:spPr>
      </p:sp>
      <p:sp>
        <p:nvSpPr>
          <p:cNvPr id="39" name="Text 37"/>
          <p:cNvSpPr/>
          <p:nvPr/>
        </p:nvSpPr>
        <p:spPr>
          <a:xfrm>
            <a:off x="7050024" y="2340864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Workers: ~72M unbanked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050024" y="259689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fee: 5–7%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050024" y="2926080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World Bank 2025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74320" y="3310128"/>
            <a:ext cx="8595360" cy="1463040"/>
          </a:xfrm>
          <a:prstGeom prst="rect">
            <a:avLst/>
          </a:prstGeom>
          <a:solidFill>
            <a:srgbClr val="091B3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57200" y="3401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8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Addressable Market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363931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$150B+</a:t>
            </a:r>
            <a:endParaRPr lang="en-US" sz="2800" dirty="0"/>
          </a:p>
        </p:txBody>
      </p:sp>
      <p:sp>
        <p:nvSpPr>
          <p:cNvPr id="45" name="Text 43"/>
          <p:cNvSpPr/>
          <p:nvPr/>
        </p:nvSpPr>
        <p:spPr>
          <a:xfrm>
            <a:off x="457200" y="41330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remittance to ASEAN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880360" y="3474720"/>
            <a:ext cx="9144" cy="1143000"/>
          </a:xfrm>
          <a:prstGeom prst="rect">
            <a:avLst/>
          </a:prstGeom>
          <a:solidFill>
            <a:srgbClr val="1A4080"/>
          </a:solidFill>
          <a:ln/>
        </p:spPr>
      </p:sp>
      <p:sp>
        <p:nvSpPr>
          <p:cNvPr id="47" name="Text 45"/>
          <p:cNvSpPr/>
          <p:nvPr/>
        </p:nvSpPr>
        <p:spPr>
          <a:xfrm>
            <a:off x="3017520" y="34015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Serviceable Addressable Market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017520" y="36393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$42B</a:t>
            </a:r>
            <a:endParaRPr lang="en-US" sz="2800" dirty="0"/>
          </a:p>
        </p:txBody>
      </p:sp>
      <p:sp>
        <p:nvSpPr>
          <p:cNvPr id="49" name="Text 47"/>
          <p:cNvSpPr/>
          <p:nvPr/>
        </p:nvSpPr>
        <p:spPr>
          <a:xfrm>
            <a:off x="3017520" y="41330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Digital-first corridor workers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669280" y="3474720"/>
            <a:ext cx="9144" cy="1143000"/>
          </a:xfrm>
          <a:prstGeom prst="rect">
            <a:avLst/>
          </a:prstGeom>
          <a:solidFill>
            <a:srgbClr val="1A4080"/>
          </a:solidFill>
          <a:ln/>
        </p:spPr>
      </p:sp>
      <p:sp>
        <p:nvSpPr>
          <p:cNvPr id="51" name="Text 49"/>
          <p:cNvSpPr/>
          <p:nvPr/>
        </p:nvSpPr>
        <p:spPr>
          <a:xfrm>
            <a:off x="5806440" y="34015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Serviceable Obtainable Market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806440" y="36393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$840M</a:t>
            </a:r>
            <a:endParaRPr lang="en-US" sz="2800" dirty="0"/>
          </a:p>
        </p:txBody>
      </p:sp>
      <p:sp>
        <p:nvSpPr>
          <p:cNvPr id="53" name="Text 51"/>
          <p:cNvSpPr/>
          <p:nvPr/>
        </p:nvSpPr>
        <p:spPr>
          <a:xfrm>
            <a:off x="5806440" y="41330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 target @ 0.2% take rate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806440" y="4407408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model: 0.5% transaction fee on successful claims = $4.2M ARR at 840M obtained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0" y="4956048"/>
            <a:ext cx="9144000" cy="9144"/>
          </a:xfrm>
          <a:prstGeom prst="rect">
            <a:avLst/>
          </a:prstGeom>
          <a:solidFill>
            <a:srgbClr val="8899BB"/>
          </a:solidFill>
          <a:ln/>
        </p:spPr>
      </p:sp>
      <p:sp>
        <p:nvSpPr>
          <p:cNvPr id="56" name="Text 54"/>
          <p:cNvSpPr/>
          <p:nvPr/>
        </p:nvSpPr>
        <p:spPr>
          <a:xfrm>
            <a:off x="411480" y="49834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StellarNest  ·  APAC Stellar Hackathon 2026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08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MVP to ASEAN-wide remittance infrastructure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256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STELLARNEST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0" y="251460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</a:rPr>
              <a:t>▶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2084832" cy="8229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987552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316736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Hackathon MVP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828800"/>
            <a:ext cx="2084832" cy="2697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" y="2048256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" y="1993392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&amp; Registration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8912" y="2432304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" y="2377440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Money (Magic Links)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38912" y="2816352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" y="2761488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&amp; Withdraw flow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38912" y="3200400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" y="3145536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&amp; Insights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8912" y="3584448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" y="3529584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test suite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38912" y="3968496"/>
            <a:ext cx="91440" cy="91440"/>
          </a:xfrm>
          <a:prstGeom prst="ellipse">
            <a:avLst/>
          </a:prstGeom>
          <a:solidFill>
            <a:srgbClr val="4A5568"/>
          </a:solidFill>
          <a:ln/>
        </p:spPr>
      </p:sp>
      <p:sp>
        <p:nvSpPr>
          <p:cNvPr id="22" name="Text 20"/>
          <p:cNvSpPr/>
          <p:nvPr/>
        </p:nvSpPr>
        <p:spPr>
          <a:xfrm>
            <a:off x="603504" y="3913632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(WIP) Anchor integration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98848" y="251460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</a:rPr>
              <a:t>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87168" y="960120"/>
            <a:ext cx="2084832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2578608" y="987552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578608" y="1316736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Indonesian Launch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487168" y="1828800"/>
            <a:ext cx="2084832" cy="2697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651760" y="2048256"/>
            <a:ext cx="91440" cy="91440"/>
          </a:xfrm>
          <a:prstGeom prst="ellipse">
            <a:avLst/>
          </a:prstGeom>
          <a:solidFill>
            <a:srgbClr val="4A5568"/>
          </a:solidFill>
          <a:ln/>
        </p:spPr>
      </p:sp>
      <p:sp>
        <p:nvSpPr>
          <p:cNvPr id="29" name="Text 27"/>
          <p:cNvSpPr/>
          <p:nvPr/>
        </p:nvSpPr>
        <p:spPr>
          <a:xfrm>
            <a:off x="2816352" y="1993392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BI-FAST + DANA/GoPay/OVO rails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651760" y="2432304"/>
            <a:ext cx="91440" cy="91440"/>
          </a:xfrm>
          <a:prstGeom prst="ellipse">
            <a:avLst/>
          </a:prstGeom>
          <a:solidFill>
            <a:srgbClr val="4A5568"/>
          </a:solidFill>
          <a:ln/>
        </p:spPr>
      </p:sp>
      <p:sp>
        <p:nvSpPr>
          <p:cNvPr id="31" name="Text 29"/>
          <p:cNvSpPr/>
          <p:nvPr/>
        </p:nvSpPr>
        <p:spPr>
          <a:xfrm>
            <a:off x="2816352" y="2377440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PT Stellarindo anchor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651760" y="2816352"/>
            <a:ext cx="91440" cy="91440"/>
          </a:xfrm>
          <a:prstGeom prst="ellipse">
            <a:avLst/>
          </a:prstGeom>
          <a:solidFill>
            <a:srgbClr val="4A5568"/>
          </a:solidFill>
          <a:ln/>
        </p:spPr>
      </p:sp>
      <p:sp>
        <p:nvSpPr>
          <p:cNvPr id="33" name="Text 31"/>
          <p:cNvSpPr/>
          <p:nvPr/>
        </p:nvSpPr>
        <p:spPr>
          <a:xfrm>
            <a:off x="2816352" y="2761488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 500 pilot workers (Jakarta)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651760" y="3200400"/>
            <a:ext cx="91440" cy="91440"/>
          </a:xfrm>
          <a:prstGeom prst="ellipse">
            <a:avLst/>
          </a:prstGeom>
          <a:solidFill>
            <a:srgbClr val="4A5568"/>
          </a:solidFill>
          <a:ln/>
        </p:spPr>
      </p:sp>
      <p:sp>
        <p:nvSpPr>
          <p:cNvPr id="35" name="Text 33"/>
          <p:cNvSpPr/>
          <p:nvPr/>
        </p:nvSpPr>
        <p:spPr>
          <a:xfrm>
            <a:off x="2816352" y="3145536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 with 3 recruiter agencies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651760" y="3584448"/>
            <a:ext cx="91440" cy="91440"/>
          </a:xfrm>
          <a:prstGeom prst="ellipse">
            <a:avLst/>
          </a:prstGeom>
          <a:solidFill>
            <a:srgbClr val="4A5568"/>
          </a:solidFill>
          <a:ln/>
        </p:spPr>
      </p:sp>
      <p:sp>
        <p:nvSpPr>
          <p:cNvPr id="37" name="Text 35"/>
          <p:cNvSpPr/>
          <p:nvPr/>
        </p:nvSpPr>
        <p:spPr>
          <a:xfrm>
            <a:off x="2816352" y="3529584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split-savings product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711696" y="251460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35"/>
                </a:solidFill>
              </a:rPr>
              <a:t>▶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00016" y="960120"/>
            <a:ext cx="2084832" cy="8229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0" name="Text 38"/>
          <p:cNvSpPr/>
          <p:nvPr/>
        </p:nvSpPr>
        <p:spPr>
          <a:xfrm>
            <a:off x="4791456" y="987552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91456" y="1316736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Philippines Expansion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00016" y="1828800"/>
            <a:ext cx="2084832" cy="2697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864608" y="2048256"/>
            <a:ext cx="91440" cy="91440"/>
          </a:xfrm>
          <a:prstGeom prst="ellipse">
            <a:avLst/>
          </a:prstGeom>
          <a:solidFill>
            <a:srgbClr val="4A5568"/>
          </a:solidFill>
          <a:ln/>
        </p:spPr>
      </p:sp>
      <p:sp>
        <p:nvSpPr>
          <p:cNvPr id="44" name="Text 42"/>
          <p:cNvSpPr/>
          <p:nvPr/>
        </p:nvSpPr>
        <p:spPr>
          <a:xfrm>
            <a:off x="5029200" y="1993392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InstaPay + BPI/GCash integration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64608" y="2432304"/>
            <a:ext cx="91440" cy="91440"/>
          </a:xfrm>
          <a:prstGeom prst="ellipse">
            <a:avLst/>
          </a:prstGeom>
          <a:solidFill>
            <a:srgbClr val="4A5568"/>
          </a:solidFill>
          <a:ln/>
        </p:spPr>
      </p:sp>
      <p:sp>
        <p:nvSpPr>
          <p:cNvPr id="46" name="Text 44"/>
          <p:cNvSpPr/>
          <p:nvPr/>
        </p:nvSpPr>
        <p:spPr>
          <a:xfrm>
            <a:off x="5029200" y="2377440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Philippines remittance corridor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64608" y="2816352"/>
            <a:ext cx="91440" cy="91440"/>
          </a:xfrm>
          <a:prstGeom prst="ellipse">
            <a:avLst/>
          </a:prstGeom>
          <a:solidFill>
            <a:srgbClr val="4A5568"/>
          </a:solidFill>
          <a:ln/>
        </p:spPr>
      </p:sp>
      <p:sp>
        <p:nvSpPr>
          <p:cNvPr id="48" name="Text 46"/>
          <p:cNvSpPr/>
          <p:nvPr/>
        </p:nvSpPr>
        <p:spPr>
          <a:xfrm>
            <a:off x="5029200" y="2761488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co-branding (POEA)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864608" y="3200400"/>
            <a:ext cx="91440" cy="91440"/>
          </a:xfrm>
          <a:prstGeom prst="ellipse">
            <a:avLst/>
          </a:prstGeom>
          <a:solidFill>
            <a:srgbClr val="4A5568"/>
          </a:solidFill>
          <a:ln/>
        </p:spPr>
      </p:sp>
      <p:sp>
        <p:nvSpPr>
          <p:cNvPr id="50" name="Text 48"/>
          <p:cNvSpPr/>
          <p:nvPr/>
        </p:nvSpPr>
        <p:spPr>
          <a:xfrm>
            <a:off x="5029200" y="3145536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credit score launch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864608" y="3584448"/>
            <a:ext cx="91440" cy="91440"/>
          </a:xfrm>
          <a:prstGeom prst="ellipse">
            <a:avLst/>
          </a:prstGeom>
          <a:solidFill>
            <a:srgbClr val="4A5568"/>
          </a:solidFill>
          <a:ln/>
        </p:spPr>
      </p:sp>
      <p:sp>
        <p:nvSpPr>
          <p:cNvPr id="52" name="Text 50"/>
          <p:cNvSpPr/>
          <p:nvPr/>
        </p:nvSpPr>
        <p:spPr>
          <a:xfrm>
            <a:off x="5029200" y="3529584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5,000 active users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912864" y="960120"/>
            <a:ext cx="2084832" cy="8229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54" name="Text 52"/>
          <p:cNvSpPr/>
          <p:nvPr/>
        </p:nvSpPr>
        <p:spPr>
          <a:xfrm>
            <a:off x="7004304" y="987552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2027+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004304" y="1316736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 ASEAN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912864" y="1828800"/>
            <a:ext cx="2084832" cy="2697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7077456" y="2048256"/>
            <a:ext cx="91440" cy="91440"/>
          </a:xfrm>
          <a:prstGeom prst="ellipse">
            <a:avLst/>
          </a:prstGeom>
          <a:solidFill>
            <a:srgbClr val="4A5568"/>
          </a:solidFill>
          <a:ln/>
        </p:spPr>
      </p:sp>
      <p:sp>
        <p:nvSpPr>
          <p:cNvPr id="58" name="Text 56"/>
          <p:cNvSpPr/>
          <p:nvPr/>
        </p:nvSpPr>
        <p:spPr>
          <a:xfrm>
            <a:off x="7242048" y="1993392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VietQR, Thailand PromptPay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077456" y="2432304"/>
            <a:ext cx="91440" cy="91440"/>
          </a:xfrm>
          <a:prstGeom prst="ellipse">
            <a:avLst/>
          </a:prstGeom>
          <a:solidFill>
            <a:srgbClr val="4A5568"/>
          </a:solidFill>
          <a:ln/>
        </p:spPr>
      </p:sp>
      <p:sp>
        <p:nvSpPr>
          <p:cNvPr id="60" name="Text 58"/>
          <p:cNvSpPr/>
          <p:nvPr/>
        </p:nvSpPr>
        <p:spPr>
          <a:xfrm>
            <a:off x="7242048" y="2377440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PayNow, SG PayNow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077456" y="2816352"/>
            <a:ext cx="91440" cy="91440"/>
          </a:xfrm>
          <a:prstGeom prst="ellipse">
            <a:avLst/>
          </a:prstGeom>
          <a:solidFill>
            <a:srgbClr val="4A5568"/>
          </a:solidFill>
          <a:ln/>
        </p:spPr>
      </p:sp>
      <p:sp>
        <p:nvSpPr>
          <p:cNvPr id="62" name="Text 60"/>
          <p:cNvSpPr/>
          <p:nvPr/>
        </p:nvSpPr>
        <p:spPr>
          <a:xfrm>
            <a:off x="7242048" y="2761488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Micro-loan product with 3 banks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077456" y="3200400"/>
            <a:ext cx="91440" cy="91440"/>
          </a:xfrm>
          <a:prstGeom prst="ellipse">
            <a:avLst/>
          </a:prstGeom>
          <a:solidFill>
            <a:srgbClr val="4A5568"/>
          </a:solidFill>
          <a:ln/>
        </p:spPr>
      </p:sp>
      <p:sp>
        <p:nvSpPr>
          <p:cNvPr id="64" name="Text 62"/>
          <p:cNvSpPr/>
          <p:nvPr/>
        </p:nvSpPr>
        <p:spPr>
          <a:xfrm>
            <a:off x="7242048" y="3145536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Stablecoin payroll for agencies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077456" y="3584448"/>
            <a:ext cx="91440" cy="91440"/>
          </a:xfrm>
          <a:prstGeom prst="ellipse">
            <a:avLst/>
          </a:prstGeom>
          <a:solidFill>
            <a:srgbClr val="4A5568"/>
          </a:solidFill>
          <a:ln/>
        </p:spPr>
      </p:sp>
      <p:sp>
        <p:nvSpPr>
          <p:cNvPr id="66" name="Text 64"/>
          <p:cNvSpPr/>
          <p:nvPr/>
        </p:nvSpPr>
        <p:spPr>
          <a:xfrm>
            <a:off x="7242048" y="3529584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50,000 users across 6 corridors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74320" y="4617720"/>
            <a:ext cx="859536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8" name="Text 66"/>
          <p:cNvSpPr/>
          <p:nvPr/>
        </p:nvSpPr>
        <p:spPr>
          <a:xfrm>
            <a:off x="274320" y="46634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005840" y="466344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StellarNest is a solo-built project by Asep Septiama — full-stack developer, Stellar ecosystem contributor, hackathon competitor.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0" y="4956048"/>
            <a:ext cx="91440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1" name="Text 69"/>
          <p:cNvSpPr/>
          <p:nvPr/>
        </p:nvSpPr>
        <p:spPr>
          <a:xfrm>
            <a:off x="411480" y="49834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StellarNest  ·  APAC Stellar Hackathon 2026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1A4080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E8A838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Ask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1645920" cy="4572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258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seeking mentorship, Stellar community support, and pre-seed funding to launch in Indonesia and scale across ASEAN.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29968"/>
            <a:ext cx="5029200" cy="877824"/>
          </a:xfrm>
          <a:prstGeom prst="rect">
            <a:avLst/>
          </a:prstGeom>
          <a:solidFill>
            <a:srgbClr val="1A408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029968"/>
            <a:ext cx="54864" cy="87782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70432" y="21214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Mentorship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70432" y="2432304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Stellar ecosystem expertise and introductions to anchor partners in Indonesia and Philippines.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035808"/>
            <a:ext cx="5029200" cy="877824"/>
          </a:xfrm>
          <a:prstGeom prst="rect">
            <a:avLst/>
          </a:prstGeom>
          <a:solidFill>
            <a:srgbClr val="1A408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035808"/>
            <a:ext cx="54864" cy="87782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70432" y="31272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70432" y="3438144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Indonesian anchors (PT Stellarindo, V FINANCIAL), remittance aggregators, and recruiter agencies.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041648"/>
            <a:ext cx="5029200" cy="877824"/>
          </a:xfrm>
          <a:prstGeom prst="rect">
            <a:avLst/>
          </a:prstGeom>
          <a:solidFill>
            <a:srgbClr val="1A408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4041648"/>
            <a:ext cx="54864" cy="87782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70432" y="41330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Funding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70432" y="4443984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$50K–$150K to fund anchor integration, pilot user acquisition (500 workers), and regulatory compliance.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760720" y="2029968"/>
            <a:ext cx="3017520" cy="2743200"/>
          </a:xfrm>
          <a:prstGeom prst="rect">
            <a:avLst/>
          </a:prstGeom>
          <a:solidFill>
            <a:srgbClr val="E8A83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0" y="21945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Build Together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943600" y="2633472"/>
            <a:ext cx="1828800" cy="36576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0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58000" y="2788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stellarnest-omega.vercel.app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43600" y="32095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58000" y="32095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asep@stellarnest.dev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0" y="3630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58000" y="36301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github.com/seppam/stellarnest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0" y="4050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Stellar: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58000" y="40507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GDEMOACCOUNT... (testnet)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91B36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7091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StellarNest  ·  Borderless Payments for Every Worker  ·  Powered by Stellar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StellarNest — Pitch Deck</dc:title>
  <dc:subject>APAC Stellar Hackathon 2026</dc:subject>
  <dc:creator>StellarNest Team</dc:creator>
  <cp:lastModifiedBy>StellarNest Team</cp:lastModifiedBy>
  <cp:revision>1</cp:revision>
  <dcterms:created xsi:type="dcterms:W3CDTF">2026-07-15T06:33:27Z</dcterms:created>
  <dcterms:modified xsi:type="dcterms:W3CDTF">2026-07-15T06:33:27Z</dcterms:modified>
</cp:coreProperties>
</file>