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0D9488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731520"/>
            <a:ext cx="2743200" cy="2743200"/>
          </a:xfrm>
          <a:prstGeom prst="ellipse">
            <a:avLst/>
          </a:prstGeom>
          <a:solidFill>
            <a:srgbClr val="02C39A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3200400"/>
            <a:ext cx="3200400" cy="3200400"/>
          </a:xfrm>
          <a:prstGeom prst="ellipse">
            <a:avLst/>
          </a:prstGeom>
          <a:solidFill>
            <a:srgbClr val="0D9488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6217920" y="320040"/>
            <a:ext cx="182880" cy="182880"/>
          </a:xfrm>
          <a:prstGeom prst="ellipse">
            <a:avLst/>
          </a:prstGeom>
          <a:solidFill>
            <a:srgbClr val="0D9488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629400" y="320040"/>
            <a:ext cx="182880" cy="182880"/>
          </a:xfrm>
          <a:prstGeom prst="ellipse">
            <a:avLst/>
          </a:prstGeom>
          <a:solidFill>
            <a:srgbClr val="0D9488">
              <a:alpha val="3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040880" y="320040"/>
            <a:ext cx="182880" cy="182880"/>
          </a:xfrm>
          <a:prstGeom prst="ellipse">
            <a:avLst/>
          </a:prstGeom>
          <a:solidFill>
            <a:srgbClr val="0D9488">
              <a:alpha val="3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217920" y="731520"/>
            <a:ext cx="182880" cy="182880"/>
          </a:xfrm>
          <a:prstGeom prst="ellipse">
            <a:avLst/>
          </a:prstGeom>
          <a:solidFill>
            <a:srgbClr val="0D9488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0" y="731520"/>
            <a:ext cx="182880" cy="182880"/>
          </a:xfrm>
          <a:prstGeom prst="ellipse">
            <a:avLst/>
          </a:prstGeom>
          <a:solidFill>
            <a:srgbClr val="0D9488">
              <a:alpha val="2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040880" y="731520"/>
            <a:ext cx="182880" cy="182880"/>
          </a:xfrm>
          <a:prstGeom prst="ellipse">
            <a:avLst/>
          </a:prstGeom>
          <a:solidFill>
            <a:srgbClr val="0D9488">
              <a:alpha val="2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217920" y="1143000"/>
            <a:ext cx="182880" cy="182880"/>
          </a:xfrm>
          <a:prstGeom prst="ellipse">
            <a:avLst/>
          </a:prstGeom>
          <a:solidFill>
            <a:srgbClr val="0D9488">
              <a:alpha val="1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629400" y="1143000"/>
            <a:ext cx="182880" cy="18288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2C39A"/>
                </a:solidFill>
              </a:rPr>
              <a:t>✦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StellarNest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15087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spc="-100" kern="0" dirty="0">
                <a:solidFill>
                  <a:srgbClr val="FFFFFF"/>
                </a:solidFill>
              </a:rPr>
              <a:t>StellarNest</a:t>
            </a:r>
            <a:endParaRPr lang="en-US" sz="6000" dirty="0"/>
          </a:p>
        </p:txBody>
      </p:sp>
      <p:sp>
        <p:nvSpPr>
          <p:cNvPr id="17" name="Shape 15"/>
          <p:cNvSpPr/>
          <p:nvPr/>
        </p:nvSpPr>
        <p:spPr>
          <a:xfrm>
            <a:off x="457200" y="2487168"/>
            <a:ext cx="548640" cy="640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578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14B8A6"/>
                </a:solidFill>
              </a:rPr>
              <a:t>Borderless Payments for Every Worker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57200" y="32186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Powered by Stellar  ·  Built for ASEAN Migrant Workers &amp; Freelancers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2606040" cy="347472"/>
          </a:xfrm>
          <a:prstGeom prst="rect">
            <a:avLst/>
          </a:prstGeom>
          <a:solidFill>
            <a:srgbClr val="0D9488">
              <a:alpha val="20000"/>
            </a:srgbClr>
          </a:solidFill>
          <a:ln w="10160">
            <a:solidFill>
              <a:srgbClr val="14B8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88620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✦ Blockchain-Powered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91840" y="3886200"/>
            <a:ext cx="2606040" cy="347472"/>
          </a:xfrm>
          <a:prstGeom prst="rect">
            <a:avLst/>
          </a:prstGeom>
          <a:solidFill>
            <a:srgbClr val="0D9488">
              <a:alpha val="20000"/>
            </a:srgbClr>
          </a:solidFill>
          <a:ln w="1016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91840" y="388620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⚡ Instant Settlement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3886200"/>
            <a:ext cx="2606040" cy="347472"/>
          </a:xfrm>
          <a:prstGeom prst="rect">
            <a:avLst/>
          </a:prstGeom>
          <a:solidFill>
            <a:srgbClr val="0D9488">
              <a:alpha val="20000"/>
            </a:srgbClr>
          </a:solidFill>
          <a:ln w="1016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388620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🔐 AES-256 Encrypted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F2044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681728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🏆  APAC Stellar Hackathon — Final Submission  |  July 2026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solidFill>
            <a:srgbClr val="0D9488">
              <a:alpha val="8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</a:rPr>
              <a:t>1 / 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C2626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</a:rPr>
              <a:t>THE 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</a:rPr>
              <a:t>The System Is Broken at Every Level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2606040" cy="150876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43000"/>
            <a:ext cx="54864" cy="150876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01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2527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5–7%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94360" y="167335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Exorbitant Fees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198424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Workers pay $12–$35 per transfer.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5–7% of each payment lost to fees.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73552" y="1143000"/>
            <a:ext cx="2606040" cy="1508760"/>
          </a:xfrm>
          <a:prstGeom prst="rect">
            <a:avLst/>
          </a:prstGeom>
          <a:solidFill>
            <a:srgbClr val="FFFFFF"/>
          </a:solidFill>
          <a:ln w="19050">
            <a:solidFill>
              <a:srgbClr val="EA580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73552" y="1143000"/>
            <a:ext cx="54864" cy="1508760"/>
          </a:xfrm>
          <a:prstGeom prst="rect">
            <a:avLst/>
          </a:prstGeom>
          <a:solidFill>
            <a:srgbClr val="EA580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1280160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867912" y="12527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580C"/>
                </a:solidFill>
              </a:rPr>
              <a:t>2–3 days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3410712" y="167335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2–3 Day Settlement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410712" y="198424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Emergency money takes days.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No same-day remittance option.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89904" y="1143000"/>
            <a:ext cx="2606040" cy="150876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89904" y="1143000"/>
            <a:ext cx="54864" cy="150876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280160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684264" y="12527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3AED"/>
                </a:solidFill>
              </a:rPr>
              <a:t>72M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6227064" y="167335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72M Unbanked in ASEAN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6227064" y="198424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Recipients without a bank account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simply cannot receive transfers.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8640" y="2834640"/>
            <a:ext cx="3840480" cy="15087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48640" y="2834640"/>
            <a:ext cx="54864" cy="150876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971800"/>
            <a:ext cx="347472" cy="34747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143000" y="29443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</a:rPr>
              <a:t>0 record</a:t>
            </a:r>
            <a:endParaRPr lang="en-US" sz="2000" dirty="0"/>
          </a:p>
        </p:txBody>
      </p:sp>
      <p:sp>
        <p:nvSpPr>
          <p:cNvPr id="28" name="Text 22"/>
          <p:cNvSpPr/>
          <p:nvPr/>
        </p:nvSpPr>
        <p:spPr>
          <a:xfrm>
            <a:off x="685800" y="33649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No Credit History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685800" y="367588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Informal remittances build 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financial identity or credit profile.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4754880" y="2834640"/>
            <a:ext cx="3840480" cy="150876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0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4754880" y="2834640"/>
            <a:ext cx="54864" cy="1508760"/>
          </a:xfrm>
          <a:prstGeom prst="rect">
            <a:avLst/>
          </a:prstGeom>
          <a:solidFill>
            <a:srgbClr val="0F2044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2971800"/>
            <a:ext cx="347472" cy="347472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349240" y="29443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044"/>
                </a:solidFill>
              </a:rPr>
              <a:t>Many</a:t>
            </a:r>
            <a:endParaRPr lang="en-US" sz="2000" dirty="0"/>
          </a:p>
        </p:txBody>
      </p:sp>
      <p:sp>
        <p:nvSpPr>
          <p:cNvPr id="34" name="Text 27"/>
          <p:cNvSpPr/>
          <p:nvPr/>
        </p:nvSpPr>
        <p:spPr>
          <a:xfrm>
            <a:off x="4892040" y="33649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Fragmented Corridors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4892040" y="367588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Every corridor (ID→PH, ID→VN)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</a:rPr>
              <a:t>is a different fee, aggregator, delay.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DC2626">
              <a:alpha val="5000"/>
            </a:srgbClr>
          </a:solidFill>
          <a:ln/>
        </p:spPr>
      </p:sp>
      <p:sp>
        <p:nvSpPr>
          <p:cNvPr id="37" name="Text 30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💡 A $150B+ annual remittance market — where workers pay the highest fees and receive the least infrastructure.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27432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StellarNest · APAC Stellar Hackathon 2026</a:t>
            </a:r>
            <a:endParaRPr lang="en-US" sz="700" dirty="0"/>
          </a:p>
        </p:txBody>
      </p:sp>
      <p:sp>
        <p:nvSpPr>
          <p:cNvPr id="39" name="Shape 32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solidFill>
            <a:srgbClr val="0D9488">
              <a:alpha val="8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</a:rPr>
              <a:t>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914400"/>
            <a:ext cx="4572000" cy="4572000"/>
          </a:xfrm>
          <a:prstGeom prst="ellipse">
            <a:avLst/>
          </a:prstGeom>
          <a:solidFill>
            <a:srgbClr val="0D9488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743200"/>
            <a:ext cx="3657600" cy="3657600"/>
          </a:xfrm>
          <a:prstGeom prst="ellipse">
            <a:avLst/>
          </a:prstGeom>
          <a:solidFill>
            <a:srgbClr val="02C39A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</a:rPr>
              <a:t>THE SOLUTION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Introducing StellarNest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B8A6"/>
                </a:solidFill>
              </a:rPr>
              <a:t>One link. Any bank. Zero crypto knowledge required.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2606040" cy="219456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00200"/>
            <a:ext cx="260604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828800"/>
            <a:ext cx="594360" cy="594360"/>
          </a:xfrm>
          <a:prstGeom prst="ellipse">
            <a:avLst/>
          </a:prstGeom>
          <a:solidFill>
            <a:srgbClr val="02C39A">
              <a:alpha val="80000"/>
            </a:srgbClr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901952"/>
            <a:ext cx="457200" cy="457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2514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Magic Claim Links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94360" y="28620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</a:rPr>
              <a:t>Shareable payment URLs via WhatsApp or SMS. Recipient claims with just a phone number — no app, no wallet, no onboarding.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00400" y="1600200"/>
            <a:ext cx="2606040" cy="219456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1600200"/>
            <a:ext cx="260604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5" name="Shape 12"/>
          <p:cNvSpPr/>
          <p:nvPr/>
        </p:nvSpPr>
        <p:spPr>
          <a:xfrm>
            <a:off x="3383280" y="1828800"/>
            <a:ext cx="594360" cy="594360"/>
          </a:xfrm>
          <a:prstGeom prst="ellipse">
            <a:avLst/>
          </a:prstGeom>
          <a:solidFill>
            <a:srgbClr val="7C3AED">
              <a:alpha val="80000"/>
            </a:srgbClr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190195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337560" y="2514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Split-Routing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337560" y="28620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</a:rPr>
              <a:t>Every payment is automatically split: 70% to family, 30% to savings — enforced at the protocol level on the Stellar ledger.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943600" y="1600200"/>
            <a:ext cx="2606040" cy="219456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943600" y="1600200"/>
            <a:ext cx="260604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1" name="Shape 17"/>
          <p:cNvSpPr/>
          <p:nvPr/>
        </p:nvSpPr>
        <p:spPr>
          <a:xfrm>
            <a:off x="6126480" y="1828800"/>
            <a:ext cx="594360" cy="594360"/>
          </a:xfrm>
          <a:prstGeom prst="ellipse">
            <a:avLst/>
          </a:prstGeom>
          <a:solidFill>
            <a:srgbClr val="14B8A6">
              <a:alpha val="80000"/>
            </a:srgbClr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901952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080760" y="2514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Multi-Currency Rails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080760" y="28620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</a:rPr>
              <a:t>BI-FAST, InstaPay, VietQR, PromptPay, DuitNow, PayNow — 6 ASEAN corridors with local settlement networks.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" y="4005072"/>
            <a:ext cx="8229600" cy="502920"/>
          </a:xfrm>
          <a:prstGeom prst="rect">
            <a:avLst/>
          </a:prstGeom>
          <a:solidFill>
            <a:srgbClr val="02C39A">
              <a:alpha val="12000"/>
            </a:srgbClr>
          </a:solidFill>
          <a:ln w="10160">
            <a:solidFill>
              <a:srgbClr val="02C39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4096512"/>
            <a:ext cx="320040" cy="32004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05840" y="4005072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🔐  Client-Side AES-256-GCM Encryption  ·  PBKDF2 (100,000 rounds)  ·  Secrets never touch a server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27432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StellarNest · APAC Stellar Hackathon 2026</a:t>
            </a:r>
            <a:endParaRPr lang="en-US" sz="700" dirty="0"/>
          </a:p>
        </p:txBody>
      </p:sp>
      <p:sp>
        <p:nvSpPr>
          <p:cNvPr id="29" name="Shape 23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solidFill>
            <a:srgbClr val="0D9488">
              <a:alpha val="8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2C39A"/>
                </a:solidFill>
              </a:rPr>
              <a:t>PRODUCT WALKTHROUGH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Sender Experience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3200400" cy="3977640"/>
          </a:xfrm>
          <a:prstGeom prst="rect">
            <a:avLst/>
          </a:prstGeom>
          <a:solidFill>
            <a:srgbClr val="0F2044"/>
          </a:solidFill>
          <a:ln w="25400">
            <a:solidFill>
              <a:srgbClr val="0F20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124712"/>
            <a:ext cx="2980944" cy="37033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7" name="Shape 5"/>
          <p:cNvSpPr/>
          <p:nvPr/>
        </p:nvSpPr>
        <p:spPr>
          <a:xfrm>
            <a:off x="1828800" y="1033272"/>
            <a:ext cx="457200" cy="164592"/>
          </a:xfrm>
          <a:prstGeom prst="ellipse">
            <a:avLst/>
          </a:prstGeom>
          <a:solidFill>
            <a:srgbClr val="0F2044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801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Send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365760" cy="365760"/>
          </a:xfrm>
          <a:prstGeom prst="ellipse">
            <a:avLst/>
          </a:prstGeom>
          <a:solidFill>
            <a:srgbClr val="0D9488">
              <a:alpha val="7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261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👤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1737360"/>
            <a:ext cx="2834640" cy="640080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  100.00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" y="21305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</a:rPr>
              <a:t>≈ Rp 1,650,000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4963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4A3B8"/>
                </a:solidFill>
              </a:rPr>
              <a:t>SPLIT ROUTING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40080" y="2743200"/>
            <a:ext cx="1984248" cy="25603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Family  70%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624328" y="2743200"/>
            <a:ext cx="850392" cy="25603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2670048" y="27432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Savings 30%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304495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$70.00 → Family     $30.00 → Savings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3383280"/>
            <a:ext cx="2834640" cy="502920"/>
          </a:xfrm>
          <a:prstGeom prst="rect">
            <a:avLst/>
          </a:prstGeom>
          <a:solidFill>
            <a:srgbClr val="0F20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29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🏠  Bayu Receiver  (🇮🇩 Indonesia)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4023360"/>
            <a:ext cx="283464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0233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⚡  Share Magic Link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9834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[ Screenshot: src/pages/Send.tsx ]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931920" y="960120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/>
          <p:nvPr/>
        </p:nvSpPr>
        <p:spPr>
          <a:xfrm>
            <a:off x="3931920" y="960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087368" y="1307592"/>
            <a:ext cx="36576" cy="310896"/>
          </a:xfrm>
          <a:prstGeom prst="rect">
            <a:avLst/>
          </a:prstGeom>
          <a:solidFill>
            <a:srgbClr val="0D9488">
              <a:alpha val="5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4407408" y="914400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Enter Amount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407408" y="1188720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Type any amount ($1–$10,000). Live conversion shows local currency equivalent using exchange rate.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931920" y="1618488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3931920" y="1618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087368" y="1965960"/>
            <a:ext cx="36576" cy="310896"/>
          </a:xfrm>
          <a:prstGeom prst="rect">
            <a:avLst/>
          </a:prstGeom>
          <a:solidFill>
            <a:srgbClr val="0D9488">
              <a:alpha val="5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4407408" y="1572768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Set the Split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407408" y="184708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Drag the 70/30 slider. Family savings vs emergency fund — enforced on-chain in a single transaction.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931920" y="2276856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3931920" y="2276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087368" y="2624328"/>
            <a:ext cx="36576" cy="310896"/>
          </a:xfrm>
          <a:prstGeom prst="rect">
            <a:avLst/>
          </a:prstGeom>
          <a:solidFill>
            <a:srgbClr val="0D9488">
              <a:alpha val="5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407408" y="2231136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Recipient Details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407408" y="250545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Enter name + select country. Determines settlement rail and e-wallets shown to recipient.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931920" y="2935224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1" name="Text 39"/>
          <p:cNvSpPr/>
          <p:nvPr/>
        </p:nvSpPr>
        <p:spPr>
          <a:xfrm>
            <a:off x="3931920" y="29352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087368" y="3282696"/>
            <a:ext cx="36576" cy="310896"/>
          </a:xfrm>
          <a:prstGeom prst="rect">
            <a:avLst/>
          </a:prstGeom>
          <a:solidFill>
            <a:srgbClr val="0D9488">
              <a:alpha val="5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4407408" y="2889504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Generate &amp; Share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407408" y="316382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Magic Link URL created and shared via WhatsApp, SMS, or email. One tap away.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931920" y="3593592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6" name="Text 44"/>
          <p:cNvSpPr/>
          <p:nvPr/>
        </p:nvSpPr>
        <p:spPr>
          <a:xfrm>
            <a:off x="3931920" y="3593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407408" y="3547872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On-Chain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407408" y="3822192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Single USDC transaction submitted to Stellar. Memo CLAIM:&lt;id&gt; links ledger to Firestore record.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27432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StellarNest · APAC Stellar Hackathon 2026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solidFill>
            <a:srgbClr val="0D9488">
              <a:alpha val="8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2C39A"/>
                </a:solidFill>
              </a:rPr>
              <a:t>PRODUCT WALKTHROUGH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Recipient Experience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651760" cy="3291840"/>
          </a:xfrm>
          <a:prstGeom prst="rect">
            <a:avLst/>
          </a:prstGeom>
          <a:solidFill>
            <a:srgbClr val="0F2044"/>
          </a:solidFill>
          <a:ln w="25400">
            <a:solidFill>
              <a:srgbClr val="0F20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2468880" cy="3063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7" name="Shape 5"/>
          <p:cNvSpPr/>
          <p:nvPr/>
        </p:nvSpPr>
        <p:spPr>
          <a:xfrm>
            <a:off x="1508760" y="1024128"/>
            <a:ext cx="365760" cy="137160"/>
          </a:xfrm>
          <a:prstGeom prst="ellipse">
            <a:avLst/>
          </a:prstGeom>
          <a:solidFill>
            <a:srgbClr val="0F2044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" y="1307592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</a:rPr>
              <a:t>💰  You have a payment!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" y="1923898"/>
            <a:ext cx="232257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$100.00 USDC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30352" y="2852928"/>
            <a:ext cx="23225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</a:rPr>
              <a:t>≈ Rp 1,650,000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0352" y="3399739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30352" y="3772814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E8F0"/>
                </a:solidFill>
              </a:rPr>
              <a:t>🌏  Select your country: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" y="4284878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🇮🇩 ID  🇵🇭 PH  🇻🇳 VN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" y="4796942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🇹🇭 TH  🇲🇾 MY  🇸🇬 SG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246888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657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Continue  →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42976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Step 1: Claim Page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448056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src/pages/Claim.tsx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3200400" y="960120"/>
            <a:ext cx="2651760" cy="3291840"/>
          </a:xfrm>
          <a:prstGeom prst="rect">
            <a:avLst/>
          </a:prstGeom>
          <a:solidFill>
            <a:srgbClr val="0F2044"/>
          </a:solidFill>
          <a:ln w="25400">
            <a:solidFill>
              <a:srgbClr val="0F20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1097280"/>
            <a:ext cx="2468880" cy="3063240"/>
          </a:xfrm>
          <a:prstGeom prst="rect">
            <a:avLst/>
          </a:prstGeom>
          <a:solidFill>
            <a:srgbClr val="0F20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343400" y="1024128"/>
            <a:ext cx="365760" cy="137160"/>
          </a:xfrm>
          <a:prstGeom prst="ellipse">
            <a:avLst/>
          </a:prstGeom>
          <a:solidFill>
            <a:srgbClr val="0F2044"/>
          </a:solidFill>
          <a:ln/>
        </p:spPr>
      </p:sp>
      <p:sp>
        <p:nvSpPr>
          <p:cNvPr id="22" name="Text 20"/>
          <p:cNvSpPr/>
          <p:nvPr/>
        </p:nvSpPr>
        <p:spPr>
          <a:xfrm>
            <a:off x="3364992" y="1307592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💸  Withdraw to Bank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64992" y="1923898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364992" y="2296973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</a:rPr>
              <a:t>🇮🇩  Indonesia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364992" y="2809037"/>
            <a:ext cx="232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Bank / E-Wallet: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64992" y="3286354"/>
            <a:ext cx="23225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🔵 DANA  (selected)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64992" y="3833165"/>
            <a:ext cx="232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OVO  GoPay  LinkAja  BCA  BRI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64992" y="4310482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400" dirty="0"/>
          </a:p>
        </p:txBody>
      </p:sp>
      <p:sp>
        <p:nvSpPr>
          <p:cNvPr id="29" name="Text 27"/>
          <p:cNvSpPr/>
          <p:nvPr/>
        </p:nvSpPr>
        <p:spPr>
          <a:xfrm>
            <a:off x="3364992" y="4614062"/>
            <a:ext cx="232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Account / Phone: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64992" y="5091379"/>
            <a:ext cx="23225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0812-3456-7890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91840" y="3657600"/>
            <a:ext cx="2468880" cy="4114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657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Withdraw Rp 1,650,000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00400" y="42976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Step 2: Withdraw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00400" y="448056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src/pages/Withdraw.tsx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035040" y="960120"/>
            <a:ext cx="2651760" cy="3291840"/>
          </a:xfrm>
          <a:prstGeom prst="rect">
            <a:avLst/>
          </a:prstGeom>
          <a:solidFill>
            <a:srgbClr val="0F2044"/>
          </a:solidFill>
          <a:ln w="25400">
            <a:solidFill>
              <a:srgbClr val="0F204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0" y="1097280"/>
            <a:ext cx="2468880" cy="3063240"/>
          </a:xfrm>
          <a:prstGeom prst="rect">
            <a:avLst/>
          </a:prstGeom>
          <a:solidFill>
            <a:srgbClr val="0A2E1E"/>
          </a:solidFill>
          <a:ln/>
        </p:spPr>
      </p:sp>
      <p:sp>
        <p:nvSpPr>
          <p:cNvPr id="37" name="Shape 35"/>
          <p:cNvSpPr/>
          <p:nvPr/>
        </p:nvSpPr>
        <p:spPr>
          <a:xfrm>
            <a:off x="7178040" y="1024128"/>
            <a:ext cx="365760" cy="137160"/>
          </a:xfrm>
          <a:prstGeom prst="ellipse">
            <a:avLst/>
          </a:prstGeom>
          <a:solidFill>
            <a:srgbClr val="0F2044"/>
          </a:solidFill>
          <a:ln/>
        </p:spPr>
      </p:sp>
      <p:sp>
        <p:nvSpPr>
          <p:cNvPr id="38" name="Text 36"/>
          <p:cNvSpPr/>
          <p:nvPr/>
        </p:nvSpPr>
        <p:spPr>
          <a:xfrm>
            <a:off x="6199632" y="1307592"/>
            <a:ext cx="232257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</a:rPr>
              <a:t>✅  Funds Claimed!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199632" y="2028139"/>
            <a:ext cx="23225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199632" y="2470709"/>
            <a:ext cx="2322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Rp 1,650,000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6199632" y="3330245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</a:rPr>
              <a:t>sent to your DANA account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199632" y="3842309"/>
            <a:ext cx="23225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199632" y="4284878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</a:rPr>
              <a:t>⏱  Arrives in 1–3 business days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199632" y="4796942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6199632" y="5170018"/>
            <a:ext cx="23225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TX: CLAIM:claim_17836...XKQ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126480" y="3657600"/>
            <a:ext cx="2468880" cy="4114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7" name="Text 45"/>
          <p:cNvSpPr/>
          <p:nvPr/>
        </p:nvSpPr>
        <p:spPr>
          <a:xfrm>
            <a:off x="6126480" y="3657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  Done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035040" y="42976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Step 3: Success!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035040" y="448056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Withdraw.tsx — success state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365760" y="4407408"/>
            <a:ext cx="8412480" cy="548640"/>
          </a:xfrm>
          <a:prstGeom prst="rect">
            <a:avLst/>
          </a:prstGeom>
          <a:solidFill>
            <a:srgbClr val="16A34A">
              <a:alpha val="8000"/>
            </a:srgbClr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498848"/>
            <a:ext cx="365760" cy="365760"/>
          </a:xfrm>
          <a:prstGeom prst="rect">
            <a:avLst/>
          </a:prstGeom>
        </p:spPr>
      </p:pic>
      <p:sp>
        <p:nvSpPr>
          <p:cNvPr id="52" name="Text 49"/>
          <p:cNvSpPr/>
          <p:nvPr/>
        </p:nvSpPr>
        <p:spPr>
          <a:xfrm>
            <a:off x="1005840" y="440740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No wallet needed  ·  No app install  ·  No crypto knowledge required  ·  KYC handled by e-wallet partner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27432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StellarNest · APAC Stellar Hackathon 2026</a:t>
            </a:r>
            <a:endParaRPr lang="en-US" sz="700" dirty="0"/>
          </a:p>
        </p:txBody>
      </p:sp>
      <p:sp>
        <p:nvSpPr>
          <p:cNvPr id="54" name="Shape 51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solidFill>
            <a:srgbClr val="0D9488">
              <a:alpha val="8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2C39A"/>
                </a:solidFill>
              </a:rPr>
              <a:t>FINANCIAL INCLUSION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Building a Financial Identity on-Chain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023360" cy="3383280"/>
          </a:xfrm>
          <a:prstGeom prst="rect">
            <a:avLst/>
          </a:prstGeom>
          <a:solidFill>
            <a:srgbClr val="0F2044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4023360" cy="4572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9875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📊  Insights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1481328"/>
            <a:ext cx="3749040" cy="777240"/>
          </a:xfrm>
          <a:prstGeom prst="rect">
            <a:avLst/>
          </a:prstGeom>
          <a:solidFill>
            <a:srgbClr val="0D9488">
              <a:alpha val="80000"/>
            </a:srgbClr>
          </a:solidFill>
          <a:ln w="1016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5087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2C39A"/>
                </a:solidFill>
              </a:rPr>
              <a:t>YTD INCOME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17190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$2,650.00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594360" y="1271016"/>
            <a:ext cx="411480" cy="1106424"/>
          </a:xfrm>
          <a:prstGeom prst="rect">
            <a:avLst/>
          </a:prstGeom>
          <a:solidFill>
            <a:srgbClr val="0D9488">
              <a:alpha val="7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3957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0" y="868680"/>
            <a:ext cx="411480" cy="1508760"/>
          </a:xfrm>
          <a:prstGeom prst="rect">
            <a:avLst/>
          </a:prstGeom>
          <a:solidFill>
            <a:srgbClr val="0D9488">
              <a:alpha val="7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3957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783080" y="1170432"/>
            <a:ext cx="411480" cy="1207008"/>
          </a:xfrm>
          <a:prstGeom prst="rect">
            <a:avLst/>
          </a:prstGeom>
          <a:solidFill>
            <a:srgbClr val="0D9488">
              <a:alpha val="7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1737360" y="23957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377440" y="566928"/>
            <a:ext cx="411480" cy="1810512"/>
          </a:xfrm>
          <a:prstGeom prst="rect">
            <a:avLst/>
          </a:prstGeom>
          <a:solidFill>
            <a:srgbClr val="0D9488">
              <a:alpha val="7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2331720" y="23957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2971800" y="1371600"/>
            <a:ext cx="411480" cy="10058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2926080" y="23957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3566160" y="1069848"/>
            <a:ext cx="411480" cy="1307592"/>
          </a:xfrm>
          <a:prstGeom prst="rect">
            <a:avLst/>
          </a:prstGeom>
          <a:solidFill>
            <a:srgbClr val="0D9488">
              <a:alpha val="7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23957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02920" y="2788920"/>
            <a:ext cx="3749040" cy="502920"/>
          </a:xfrm>
          <a:prstGeom prst="rect">
            <a:avLst/>
          </a:prstGeom>
          <a:solidFill>
            <a:srgbClr val="0A162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28529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Family: $1,855  |  Savings: $795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3401568"/>
            <a:ext cx="3749040" cy="38404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4015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628"/>
                </a:solidFill>
              </a:rPr>
              <a:t>📄  Export Proof of Income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" y="4343400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[ Screenshot: src/pages/Insights.tsx ]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663440" y="914400"/>
            <a:ext cx="4114800" cy="160020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914400"/>
            <a:ext cx="4114800" cy="320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9326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📄  PROOF OF INCOME — StellarNest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00600" y="126187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Worker:   Asep Sender  |  Key: GDEMOACCOUNT...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800600" y="1385316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Period:   January 1 — July 14, 2026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00600" y="1508760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293B"/>
                </a:solidFill>
              </a:rPr>
              <a:t>────────────────────────────────────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800600" y="1632204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  Jan 15   +$500.00  → Family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00600" y="1755648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  Mar 02   +$750.00  → Family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00600" y="187909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  Apr 10   +$600.00  → Family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800600" y="2002536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  May 22   +$500.00  → Family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800600" y="2125980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  Jul 08   +$300.00  → Family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800600" y="2249424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293B"/>
                </a:solidFill>
              </a:rPr>
              <a:t>────────────────────────────────────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800600" y="2372868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E293B"/>
                </a:solidFill>
              </a:rPr>
              <a:t>  TOTAL YTD:  $2,650.00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663440" y="2651760"/>
            <a:ext cx="4114800" cy="347472"/>
          </a:xfrm>
          <a:prstGeom prst="rect">
            <a:avLst/>
          </a:prstGeom>
          <a:solidFill>
            <a:srgbClr val="16A34A">
              <a:alpha val="15000"/>
            </a:srgbClr>
          </a:solidFill>
          <a:ln w="10160">
            <a:solidFill>
              <a:srgbClr val="16A3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26517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💰  Path to Credit — verified on-chain income unlocks loans &amp; mortgages</a:t>
            </a:r>
            <a:endParaRPr lang="en-US" sz="9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3108960"/>
            <a:ext cx="274320" cy="274320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5010912" y="31089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Auto-Generated Statement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010912" y="334670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One-click PDF from on-chain data. Verifiable by any bank.</a:t>
            </a:r>
            <a:endParaRPr lang="en-US" sz="90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3767328"/>
            <a:ext cx="274320" cy="274320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5010912" y="3767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Credit Application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5010912" y="40050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Bank queries on-chain income via read-only API key (worker consents).</a:t>
            </a:r>
            <a:endParaRPr lang="en-US" sz="900" dirty="0"/>
          </a:p>
        </p:txBody>
      </p:sp>
      <p:pic>
        <p:nvPicPr>
          <p:cNvPr id="4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4425696"/>
            <a:ext cx="274320" cy="274320"/>
          </a:xfrm>
          <a:prstGeom prst="rect">
            <a:avLst/>
          </a:prstGeom>
        </p:spPr>
      </p:pic>
      <p:sp>
        <p:nvSpPr>
          <p:cNvPr id="50" name="Text 45"/>
          <p:cNvSpPr/>
          <p:nvPr/>
        </p:nvSpPr>
        <p:spPr>
          <a:xfrm>
            <a:off x="5010912" y="44256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Micro-Loan Approval</a:t>
            </a:r>
            <a:endParaRPr lang="en-US" sz="1000" dirty="0"/>
          </a:p>
        </p:txBody>
      </p:sp>
      <p:sp>
        <p:nvSpPr>
          <p:cNvPr id="51" name="Text 46"/>
          <p:cNvSpPr/>
          <p:nvPr/>
        </p:nvSpPr>
        <p:spPr>
          <a:xfrm>
            <a:off x="5010912" y="4663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Consistent 6-month history = auto-approved loans up to $500.</a:t>
            </a:r>
            <a:endParaRPr lang="en-US" sz="900" dirty="0"/>
          </a:p>
        </p:txBody>
      </p:sp>
      <p:sp>
        <p:nvSpPr>
          <p:cNvPr id="52" name="Text 47"/>
          <p:cNvSpPr/>
          <p:nvPr/>
        </p:nvSpPr>
        <p:spPr>
          <a:xfrm>
            <a:off x="27432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StellarNest · APAC Stellar Hackathon 2026</a:t>
            </a:r>
            <a:endParaRPr lang="en-US" sz="700" dirty="0"/>
          </a:p>
        </p:txBody>
      </p:sp>
      <p:sp>
        <p:nvSpPr>
          <p:cNvPr id="53" name="Shape 48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solidFill>
            <a:srgbClr val="0D9488">
              <a:alpha val="8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2C39A"/>
                </a:solidFill>
              </a:rPr>
              <a:t>TECHNICAL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Stack: React 19 · Firebase · Stellar SDK v16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60120"/>
            <a:ext cx="1371600" cy="2926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9601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FRONTEND</a:t>
            </a:r>
            <a:endParaRPr lang="en-US" sz="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134416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React 19 SPA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15453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(Vite dev server)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287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22960" y="164287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AppContext + Services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822960" y="1844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claim.service, stellar.ts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41576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22960" y="194157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Insights / Dashboard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822960" y="21427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YTD, charts, proof-of-income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365760" y="2331720"/>
            <a:ext cx="50292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365760" y="2331720"/>
            <a:ext cx="137160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9" name="Text 14"/>
          <p:cNvSpPr/>
          <p:nvPr/>
        </p:nvSpPr>
        <p:spPr>
          <a:xfrm>
            <a:off x="41148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DATA &amp; SYNC</a:t>
            </a:r>
            <a:endParaRPr lang="en-US" sz="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15768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22960" y="271576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localStorage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822960" y="29169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Offline-first, sync-first writes</a:t>
            </a:r>
            <a:endParaRPr lang="en-US" sz="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968752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22960" y="29687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Firebase Firestore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822960" y="31699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Claims, profiles, async sync</a:t>
            </a:r>
            <a:endParaRPr lang="en-US" sz="8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221736"/>
            <a:ext cx="256032" cy="256032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22960" y="322173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AES-256-GCM Keys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822960" y="342290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Encrypted secrets, PBKDF2</a:t>
            </a:r>
            <a:endParaRPr lang="en-US" sz="800" dirty="0"/>
          </a:p>
        </p:txBody>
      </p:sp>
      <p:sp>
        <p:nvSpPr>
          <p:cNvPr id="29" name="Shape 21"/>
          <p:cNvSpPr/>
          <p:nvPr/>
        </p:nvSpPr>
        <p:spPr>
          <a:xfrm>
            <a:off x="365760" y="3566160"/>
            <a:ext cx="50292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6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365760" y="3566160"/>
            <a:ext cx="1371600" cy="2926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3"/>
          <p:cNvSpPr/>
          <p:nvPr/>
        </p:nvSpPr>
        <p:spPr>
          <a:xfrm>
            <a:off x="411480" y="35661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STELLAR LAYER</a:t>
            </a:r>
            <a:endParaRPr lang="en-US" sz="8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950208"/>
            <a:ext cx="256032" cy="256032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822960" y="395020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Stellar Testnet</a:t>
            </a:r>
            <a:endParaRPr lang="en-US" sz="1000" dirty="0"/>
          </a:p>
        </p:txBody>
      </p:sp>
      <p:sp>
        <p:nvSpPr>
          <p:cNvPr id="34" name="Text 25"/>
          <p:cNvSpPr/>
          <p:nvPr/>
        </p:nvSpPr>
        <p:spPr>
          <a:xfrm>
            <a:off x="822960" y="41513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horizon-testnet.stellar.org</a:t>
            </a:r>
            <a:endParaRPr lang="en-US" sz="8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4203192"/>
            <a:ext cx="256032" cy="256032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822960" y="42031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USDC Issuer</a:t>
            </a:r>
            <a:endParaRPr lang="en-US" sz="1000" dirty="0"/>
          </a:p>
        </p:txBody>
      </p:sp>
      <p:sp>
        <p:nvSpPr>
          <p:cNvPr id="37" name="Text 27"/>
          <p:cNvSpPr/>
          <p:nvPr/>
        </p:nvSpPr>
        <p:spPr>
          <a:xfrm>
            <a:off x="822960" y="44043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GBBD47IF6LWK7P7MDEVSCWR7...</a:t>
            </a:r>
            <a:endParaRPr lang="en-US" sz="800" dirty="0"/>
          </a:p>
        </p:txBody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4456176"/>
            <a:ext cx="256032" cy="256032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822960" y="445617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Memo: CLAIM:&lt;id&gt;</a:t>
            </a:r>
            <a:endParaRPr lang="en-US" sz="1000" dirty="0"/>
          </a:p>
        </p:txBody>
      </p:sp>
      <p:sp>
        <p:nvSpPr>
          <p:cNvPr id="40" name="Text 29"/>
          <p:cNvSpPr/>
          <p:nvPr/>
        </p:nvSpPr>
        <p:spPr>
          <a:xfrm>
            <a:off x="822960" y="46573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Max 28 bytes (SDK v16)</a:t>
            </a:r>
            <a:endParaRPr lang="en-US" sz="800" dirty="0"/>
          </a:p>
        </p:txBody>
      </p:sp>
      <p:sp>
        <p:nvSpPr>
          <p:cNvPr id="41" name="Text 30"/>
          <p:cNvSpPr/>
          <p:nvPr/>
        </p:nvSpPr>
        <p:spPr>
          <a:xfrm>
            <a:off x="2788920" y="15544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↓</a:t>
            </a:r>
            <a:endParaRPr lang="en-US" sz="1600" dirty="0"/>
          </a:p>
        </p:txBody>
      </p:sp>
      <p:sp>
        <p:nvSpPr>
          <p:cNvPr id="42" name="Text 31"/>
          <p:cNvSpPr/>
          <p:nvPr/>
        </p:nvSpPr>
        <p:spPr>
          <a:xfrm>
            <a:off x="2788920" y="29260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↓</a:t>
            </a:r>
            <a:endParaRPr lang="en-US" sz="1600" dirty="0"/>
          </a:p>
        </p:txBody>
      </p:sp>
      <p:sp>
        <p:nvSpPr>
          <p:cNvPr id="43" name="Shape 32"/>
          <p:cNvSpPr/>
          <p:nvPr/>
        </p:nvSpPr>
        <p:spPr>
          <a:xfrm>
            <a:off x="5623560" y="960120"/>
            <a:ext cx="315468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6000"/>
              </a:srgbClr>
            </a:outerShdw>
          </a:effectLst>
        </p:spPr>
      </p:sp>
      <p:sp>
        <p:nvSpPr>
          <p:cNvPr id="44" name="Shape 33"/>
          <p:cNvSpPr/>
          <p:nvPr/>
        </p:nvSpPr>
        <p:spPr>
          <a:xfrm>
            <a:off x="5623560" y="960120"/>
            <a:ext cx="3154680" cy="34747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45" name="Text 34"/>
          <p:cNvSpPr/>
          <p:nvPr/>
        </p:nvSpPr>
        <p:spPr>
          <a:xfrm>
            <a:off x="5715000" y="97840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⚙️  Tech Stack</a:t>
            </a:r>
            <a:endParaRPr lang="en-US" sz="1100" dirty="0"/>
          </a:p>
        </p:txBody>
      </p:sp>
      <p:sp>
        <p:nvSpPr>
          <p:cNvPr id="46" name="Shape 35"/>
          <p:cNvSpPr/>
          <p:nvPr/>
        </p:nvSpPr>
        <p:spPr>
          <a:xfrm>
            <a:off x="5715000" y="1371600"/>
            <a:ext cx="29718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36"/>
          <p:cNvSpPr/>
          <p:nvPr/>
        </p:nvSpPr>
        <p:spPr>
          <a:xfrm>
            <a:off x="5806440" y="13898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React 19</a:t>
            </a:r>
            <a:endParaRPr lang="en-US" sz="900" dirty="0"/>
          </a:p>
        </p:txBody>
      </p:sp>
      <p:sp>
        <p:nvSpPr>
          <p:cNvPr id="48" name="Text 37"/>
          <p:cNvSpPr/>
          <p:nvPr/>
        </p:nvSpPr>
        <p:spPr>
          <a:xfrm>
            <a:off x="5806440" y="1554480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Frontend SPA</a:t>
            </a:r>
            <a:endParaRPr lang="en-US" sz="800" dirty="0"/>
          </a:p>
        </p:txBody>
      </p:sp>
      <p:sp>
        <p:nvSpPr>
          <p:cNvPr id="49" name="Shape 38"/>
          <p:cNvSpPr/>
          <p:nvPr/>
        </p:nvSpPr>
        <p:spPr>
          <a:xfrm>
            <a:off x="5715000" y="1764792"/>
            <a:ext cx="29718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39"/>
          <p:cNvSpPr/>
          <p:nvPr/>
        </p:nvSpPr>
        <p:spPr>
          <a:xfrm>
            <a:off x="5806440" y="17830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React Router 7</a:t>
            </a:r>
            <a:endParaRPr lang="en-US" sz="900" dirty="0"/>
          </a:p>
        </p:txBody>
      </p:sp>
      <p:sp>
        <p:nvSpPr>
          <p:cNvPr id="51" name="Text 40"/>
          <p:cNvSpPr/>
          <p:nvPr/>
        </p:nvSpPr>
        <p:spPr>
          <a:xfrm>
            <a:off x="5806440" y="1947672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Client routing</a:t>
            </a:r>
            <a:endParaRPr lang="en-US" sz="800" dirty="0"/>
          </a:p>
        </p:txBody>
      </p:sp>
      <p:sp>
        <p:nvSpPr>
          <p:cNvPr id="52" name="Shape 41"/>
          <p:cNvSpPr/>
          <p:nvPr/>
        </p:nvSpPr>
        <p:spPr>
          <a:xfrm>
            <a:off x="5715000" y="2157984"/>
            <a:ext cx="29718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3" name="Text 42"/>
          <p:cNvSpPr/>
          <p:nvPr/>
        </p:nvSpPr>
        <p:spPr>
          <a:xfrm>
            <a:off x="5806440" y="217627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Vite 8</a:t>
            </a:r>
            <a:endParaRPr lang="en-US" sz="900" dirty="0"/>
          </a:p>
        </p:txBody>
      </p:sp>
      <p:sp>
        <p:nvSpPr>
          <p:cNvPr id="54" name="Text 43"/>
          <p:cNvSpPr/>
          <p:nvPr/>
        </p:nvSpPr>
        <p:spPr>
          <a:xfrm>
            <a:off x="5806440" y="2340864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Build &amp; HMR</a:t>
            </a:r>
            <a:endParaRPr lang="en-US" sz="800" dirty="0"/>
          </a:p>
        </p:txBody>
      </p:sp>
      <p:sp>
        <p:nvSpPr>
          <p:cNvPr id="55" name="Shape 44"/>
          <p:cNvSpPr/>
          <p:nvPr/>
        </p:nvSpPr>
        <p:spPr>
          <a:xfrm>
            <a:off x="5715000" y="2551176"/>
            <a:ext cx="29718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45"/>
          <p:cNvSpPr/>
          <p:nvPr/>
        </p:nvSpPr>
        <p:spPr>
          <a:xfrm>
            <a:off x="5806440" y="256946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Firebase 12</a:t>
            </a:r>
            <a:endParaRPr lang="en-US" sz="900" dirty="0"/>
          </a:p>
        </p:txBody>
      </p:sp>
      <p:sp>
        <p:nvSpPr>
          <p:cNvPr id="57" name="Text 46"/>
          <p:cNvSpPr/>
          <p:nvPr/>
        </p:nvSpPr>
        <p:spPr>
          <a:xfrm>
            <a:off x="5806440" y="2734056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Auth + Firestore</a:t>
            </a:r>
            <a:endParaRPr lang="en-US" sz="800" dirty="0"/>
          </a:p>
        </p:txBody>
      </p:sp>
      <p:sp>
        <p:nvSpPr>
          <p:cNvPr id="58" name="Shape 47"/>
          <p:cNvSpPr/>
          <p:nvPr/>
        </p:nvSpPr>
        <p:spPr>
          <a:xfrm>
            <a:off x="5715000" y="2944368"/>
            <a:ext cx="29718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9" name="Text 48"/>
          <p:cNvSpPr/>
          <p:nvPr/>
        </p:nvSpPr>
        <p:spPr>
          <a:xfrm>
            <a:off x="5806440" y="296265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stellar-sdk 16</a:t>
            </a:r>
            <a:endParaRPr lang="en-US" sz="900" dirty="0"/>
          </a:p>
        </p:txBody>
      </p:sp>
      <p:sp>
        <p:nvSpPr>
          <p:cNvPr id="60" name="Text 49"/>
          <p:cNvSpPr/>
          <p:nvPr/>
        </p:nvSpPr>
        <p:spPr>
          <a:xfrm>
            <a:off x="5806440" y="3127248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Horizon API</a:t>
            </a:r>
            <a:endParaRPr lang="en-US" sz="800" dirty="0"/>
          </a:p>
        </p:txBody>
      </p:sp>
      <p:sp>
        <p:nvSpPr>
          <p:cNvPr id="61" name="Shape 50"/>
          <p:cNvSpPr/>
          <p:nvPr/>
        </p:nvSpPr>
        <p:spPr>
          <a:xfrm>
            <a:off x="5715000" y="3337560"/>
            <a:ext cx="29718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51"/>
          <p:cNvSpPr/>
          <p:nvPr/>
        </p:nvSpPr>
        <p:spPr>
          <a:xfrm>
            <a:off x="5806440" y="3355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Tailwind CSS 3.4</a:t>
            </a:r>
            <a:endParaRPr lang="en-US" sz="900" dirty="0"/>
          </a:p>
        </p:txBody>
      </p:sp>
      <p:sp>
        <p:nvSpPr>
          <p:cNvPr id="63" name="Text 52"/>
          <p:cNvSpPr/>
          <p:nvPr/>
        </p:nvSpPr>
        <p:spPr>
          <a:xfrm>
            <a:off x="5806440" y="3520440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Design system</a:t>
            </a:r>
            <a:endParaRPr lang="en-US" sz="800" dirty="0"/>
          </a:p>
        </p:txBody>
      </p:sp>
      <p:sp>
        <p:nvSpPr>
          <p:cNvPr id="64" name="Shape 53"/>
          <p:cNvSpPr/>
          <p:nvPr/>
        </p:nvSpPr>
        <p:spPr>
          <a:xfrm>
            <a:off x="5715000" y="3730752"/>
            <a:ext cx="29718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54"/>
          <p:cNvSpPr/>
          <p:nvPr/>
        </p:nvSpPr>
        <p:spPr>
          <a:xfrm>
            <a:off x="5806440" y="37490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Web Crypto API</a:t>
            </a:r>
            <a:endParaRPr lang="en-US" sz="900" dirty="0"/>
          </a:p>
        </p:txBody>
      </p:sp>
      <p:sp>
        <p:nvSpPr>
          <p:cNvPr id="66" name="Text 55"/>
          <p:cNvSpPr/>
          <p:nvPr/>
        </p:nvSpPr>
        <p:spPr>
          <a:xfrm>
            <a:off x="5806440" y="3913632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AES-GCM crypto</a:t>
            </a:r>
            <a:endParaRPr lang="en-US" sz="800" dirty="0"/>
          </a:p>
        </p:txBody>
      </p:sp>
      <p:sp>
        <p:nvSpPr>
          <p:cNvPr id="67" name="Shape 56"/>
          <p:cNvSpPr/>
          <p:nvPr/>
        </p:nvSpPr>
        <p:spPr>
          <a:xfrm>
            <a:off x="5715000" y="4123944"/>
            <a:ext cx="29718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57"/>
          <p:cNvSpPr/>
          <p:nvPr/>
        </p:nvSpPr>
        <p:spPr>
          <a:xfrm>
            <a:off x="5806440" y="4142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Playwright</a:t>
            </a:r>
            <a:endParaRPr lang="en-US" sz="900" dirty="0"/>
          </a:p>
        </p:txBody>
      </p:sp>
      <p:sp>
        <p:nvSpPr>
          <p:cNvPr id="69" name="Text 58"/>
          <p:cNvSpPr/>
          <p:nvPr/>
        </p:nvSpPr>
        <p:spPr>
          <a:xfrm>
            <a:off x="5806440" y="4306824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E2E testing</a:t>
            </a:r>
            <a:endParaRPr lang="en-US" sz="800" dirty="0"/>
          </a:p>
        </p:txBody>
      </p:sp>
      <p:sp>
        <p:nvSpPr>
          <p:cNvPr id="70" name="Shape 59"/>
          <p:cNvSpPr/>
          <p:nvPr/>
        </p:nvSpPr>
        <p:spPr>
          <a:xfrm>
            <a:off x="5623560" y="4572000"/>
            <a:ext cx="3154680" cy="384048"/>
          </a:xfrm>
          <a:prstGeom prst="rect">
            <a:avLst/>
          </a:prstGeom>
          <a:solidFill>
            <a:srgbClr val="D97706">
              <a:alpha val="15000"/>
            </a:srgbClr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71" name="Text 60"/>
          <p:cNvSpPr/>
          <p:nvPr/>
        </p:nvSpPr>
        <p:spPr>
          <a:xfrm>
            <a:off x="571500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💡 MOCK_MODE=true (dev)  /  false (production)</a:t>
            </a:r>
            <a:endParaRPr lang="en-US" sz="800" dirty="0"/>
          </a:p>
        </p:txBody>
      </p:sp>
      <p:sp>
        <p:nvSpPr>
          <p:cNvPr id="72" name="Text 61"/>
          <p:cNvSpPr/>
          <p:nvPr/>
        </p:nvSpPr>
        <p:spPr>
          <a:xfrm>
            <a:off x="27432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StellarNest · APAC Stellar Hackathon 2026</a:t>
            </a:r>
            <a:endParaRPr lang="en-US" sz="700" dirty="0"/>
          </a:p>
        </p:txBody>
      </p:sp>
      <p:sp>
        <p:nvSpPr>
          <p:cNvPr id="73" name="Shape 62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solidFill>
            <a:srgbClr val="0D9488">
              <a:alpha val="8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74" name="Text 63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0D9488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200400"/>
            <a:ext cx="2743200" cy="2743200"/>
          </a:xfrm>
          <a:prstGeom prst="ellipse">
            <a:avLst/>
          </a:prstGeom>
          <a:solidFill>
            <a:srgbClr val="02C39A">
              <a:alpha val="7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2C39A"/>
                </a:solidFill>
              </a:rPr>
              <a:t>SECURITY ARCHITECTURE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AES-256-GCM · PBKDF2 100K · Zero Server Exposure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1572768" cy="169164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05840"/>
            <a:ext cx="1572768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Shape 6"/>
          <p:cNvSpPr/>
          <p:nvPr/>
        </p:nvSpPr>
        <p:spPr>
          <a:xfrm>
            <a:off x="987552" y="1133856"/>
            <a:ext cx="329184" cy="32918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987552" y="1133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50876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1901952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Firebase UID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2176272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2E8F0"/>
                </a:solidFill>
              </a:rPr>
              <a:t>Anonymous Auth gives each user a unique, stable UID.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457200" y="2487168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D9488"/>
                </a:solidFill>
              </a:rPr>
              <a:t>e.g. "abc123xyz"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1938528" y="1691640"/>
            <a:ext cx="137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29968" y="1005840"/>
            <a:ext cx="1572768" cy="169164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29968" y="1005840"/>
            <a:ext cx="1572768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Shape 14"/>
          <p:cNvSpPr/>
          <p:nvPr/>
        </p:nvSpPr>
        <p:spPr>
          <a:xfrm>
            <a:off x="2651760" y="1133856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5"/>
          <p:cNvSpPr/>
          <p:nvPr/>
        </p:nvSpPr>
        <p:spPr>
          <a:xfrm>
            <a:off x="2651760" y="1133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1508760"/>
            <a:ext cx="365760" cy="36576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121408" y="1901952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PBKDF2 Key Derivation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2121408" y="2176272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2E8F0"/>
                </a:solidFill>
              </a:rPr>
              <a:t>UID + 100,000 rounds SHA-256 → 256-bit AES key.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2121408" y="2487168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2C39A"/>
                </a:solidFill>
              </a:rPr>
              <a:t>NIST SP 800-132</a:t>
            </a:r>
            <a:endParaRPr lang="en-US" sz="700" dirty="0"/>
          </a:p>
        </p:txBody>
      </p:sp>
      <p:sp>
        <p:nvSpPr>
          <p:cNvPr id="23" name="Text 19"/>
          <p:cNvSpPr/>
          <p:nvPr/>
        </p:nvSpPr>
        <p:spPr>
          <a:xfrm>
            <a:off x="3602736" y="1691640"/>
            <a:ext cx="137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694176" y="1005840"/>
            <a:ext cx="1572768" cy="169164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694176" y="1005840"/>
            <a:ext cx="1572768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6" name="Shape 22"/>
          <p:cNvSpPr/>
          <p:nvPr/>
        </p:nvSpPr>
        <p:spPr>
          <a:xfrm>
            <a:off x="4315968" y="1133856"/>
            <a:ext cx="329184" cy="329184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7" name="Text 23"/>
          <p:cNvSpPr/>
          <p:nvPr/>
        </p:nvSpPr>
        <p:spPr>
          <a:xfrm>
            <a:off x="4315968" y="1133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508760"/>
            <a:ext cx="365760" cy="36576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3785616" y="1901952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AES-256-GCM Encrypt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3785616" y="2176272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2E8F0"/>
                </a:solidFill>
              </a:rPr>
              <a:t>Random IV per operation. Authenticated encryption.</a:t>
            </a:r>
            <a:endParaRPr lang="en-US" sz="750" dirty="0"/>
          </a:p>
        </p:txBody>
      </p:sp>
      <p:sp>
        <p:nvSpPr>
          <p:cNvPr id="31" name="Text 26"/>
          <p:cNvSpPr/>
          <p:nvPr/>
        </p:nvSpPr>
        <p:spPr>
          <a:xfrm>
            <a:off x="3785616" y="2487168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4B8A6"/>
                </a:solidFill>
              </a:rPr>
              <a:t>NIST SP 800-38D</a:t>
            </a:r>
            <a:endParaRPr lang="en-US" sz="700" dirty="0"/>
          </a:p>
        </p:txBody>
      </p:sp>
      <p:sp>
        <p:nvSpPr>
          <p:cNvPr id="32" name="Text 27"/>
          <p:cNvSpPr/>
          <p:nvPr/>
        </p:nvSpPr>
        <p:spPr>
          <a:xfrm>
            <a:off x="5266944" y="1691640"/>
            <a:ext cx="137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5358384" y="1005840"/>
            <a:ext cx="1572768" cy="169164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5358384" y="1005840"/>
            <a:ext cx="1572768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5" name="Shape 30"/>
          <p:cNvSpPr/>
          <p:nvPr/>
        </p:nvSpPr>
        <p:spPr>
          <a:xfrm>
            <a:off x="5980176" y="1133856"/>
            <a:ext cx="329184" cy="32918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6" name="Text 31"/>
          <p:cNvSpPr/>
          <p:nvPr/>
        </p:nvSpPr>
        <p:spPr>
          <a:xfrm>
            <a:off x="5980176" y="1133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1508760"/>
            <a:ext cx="365760" cy="365760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5449824" y="1901952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Store in Firestore</a:t>
            </a:r>
            <a:endParaRPr lang="en-US" sz="900" dirty="0"/>
          </a:p>
        </p:txBody>
      </p:sp>
      <p:sp>
        <p:nvSpPr>
          <p:cNvPr id="39" name="Text 33"/>
          <p:cNvSpPr/>
          <p:nvPr/>
        </p:nvSpPr>
        <p:spPr>
          <a:xfrm>
            <a:off x="5449824" y="2176272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2E8F0"/>
                </a:solidFill>
              </a:rPr>
              <a:t>base64(salt[16] || ct || iv[12]) stored as encryptedSecret.</a:t>
            </a:r>
            <a:endParaRPr lang="en-US" sz="750" dirty="0"/>
          </a:p>
        </p:txBody>
      </p:sp>
      <p:sp>
        <p:nvSpPr>
          <p:cNvPr id="40" name="Text 34"/>
          <p:cNvSpPr/>
          <p:nvPr/>
        </p:nvSpPr>
        <p:spPr>
          <a:xfrm>
            <a:off x="5449824" y="2487168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C3AED"/>
                </a:solidFill>
              </a:rPr>
              <a:t>Unreadable without UID</a:t>
            </a:r>
            <a:endParaRPr lang="en-US" sz="700" dirty="0"/>
          </a:p>
        </p:txBody>
      </p:sp>
      <p:sp>
        <p:nvSpPr>
          <p:cNvPr id="41" name="Text 35"/>
          <p:cNvSpPr/>
          <p:nvPr/>
        </p:nvSpPr>
        <p:spPr>
          <a:xfrm>
            <a:off x="6931152" y="1691640"/>
            <a:ext cx="137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42" name="Shape 36"/>
          <p:cNvSpPr/>
          <p:nvPr/>
        </p:nvSpPr>
        <p:spPr>
          <a:xfrm>
            <a:off x="7022592" y="1005840"/>
            <a:ext cx="1572768" cy="169164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022592" y="1005840"/>
            <a:ext cx="1572768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4" name="Shape 38"/>
          <p:cNvSpPr/>
          <p:nvPr/>
        </p:nvSpPr>
        <p:spPr>
          <a:xfrm>
            <a:off x="7644384" y="1133856"/>
            <a:ext cx="329184" cy="329184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5" name="Text 39"/>
          <p:cNvSpPr/>
          <p:nvPr/>
        </p:nvSpPr>
        <p:spPr>
          <a:xfrm>
            <a:off x="7644384" y="1133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pic>
        <p:nvPicPr>
          <p:cNvPr id="4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6096" y="1508760"/>
            <a:ext cx="365760" cy="365760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7114032" y="1901952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In-Memory Only</a:t>
            </a:r>
            <a:endParaRPr lang="en-US" sz="900" dirty="0"/>
          </a:p>
        </p:txBody>
      </p:sp>
      <p:sp>
        <p:nvSpPr>
          <p:cNvPr id="48" name="Text 41"/>
          <p:cNvSpPr/>
          <p:nvPr/>
        </p:nvSpPr>
        <p:spPr>
          <a:xfrm>
            <a:off x="7114032" y="2176272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2E8F0"/>
                </a:solidFill>
              </a:rPr>
              <a:t>Decrypted secret lives in walletSecretRef (React useRef). Never serialized.</a:t>
            </a:r>
            <a:endParaRPr lang="en-US" sz="750" dirty="0"/>
          </a:p>
        </p:txBody>
      </p:sp>
      <p:sp>
        <p:nvSpPr>
          <p:cNvPr id="49" name="Text 42"/>
          <p:cNvSpPr/>
          <p:nvPr/>
        </p:nvSpPr>
        <p:spPr>
          <a:xfrm>
            <a:off x="7114032" y="2487168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A34A"/>
                </a:solidFill>
              </a:rPr>
              <a:t>Gone on sign-out</a:t>
            </a:r>
            <a:endParaRPr lang="en-US" sz="700" dirty="0"/>
          </a:p>
        </p:txBody>
      </p:sp>
      <p:sp>
        <p:nvSpPr>
          <p:cNvPr id="50" name="Shape 43"/>
          <p:cNvSpPr/>
          <p:nvPr/>
        </p:nvSpPr>
        <p:spPr>
          <a:xfrm>
            <a:off x="365760" y="2834640"/>
            <a:ext cx="8412480" cy="1783080"/>
          </a:xfrm>
          <a:prstGeom prst="rect">
            <a:avLst/>
          </a:prstGeom>
          <a:solidFill>
            <a:srgbClr val="FFFFFF">
              <a:alpha val="94000"/>
            </a:srgbClr>
          </a:solidFill>
          <a:ln w="10160">
            <a:solidFill>
              <a:srgbClr val="0D9488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457200" y="28803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</a:rPr>
              <a:t>🔐  Security Specification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457200" y="3200400"/>
            <a:ext cx="8229600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53" name="Text 46"/>
          <p:cNvSpPr/>
          <p:nvPr/>
        </p:nvSpPr>
        <p:spPr>
          <a:xfrm>
            <a:off x="548640" y="32004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C39A"/>
                </a:solidFill>
              </a:rPr>
              <a:t>Algorithm</a:t>
            </a:r>
            <a:endParaRPr lang="en-US" sz="850" dirty="0"/>
          </a:p>
        </p:txBody>
      </p:sp>
      <p:sp>
        <p:nvSpPr>
          <p:cNvPr id="54" name="Text 47"/>
          <p:cNvSpPr/>
          <p:nvPr/>
        </p:nvSpPr>
        <p:spPr>
          <a:xfrm>
            <a:off x="2286000" y="3200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AES-256-GCM</a:t>
            </a:r>
            <a:endParaRPr lang="en-US" sz="850" dirty="0"/>
          </a:p>
        </p:txBody>
      </p:sp>
      <p:sp>
        <p:nvSpPr>
          <p:cNvPr id="55" name="Text 48"/>
          <p:cNvSpPr/>
          <p:nvPr/>
        </p:nvSpPr>
        <p:spPr>
          <a:xfrm>
            <a:off x="4663440" y="32004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NIST SP 800-38D</a:t>
            </a:r>
            <a:endParaRPr lang="en-US" sz="800" dirty="0"/>
          </a:p>
        </p:txBody>
      </p:sp>
      <p:sp>
        <p:nvSpPr>
          <p:cNvPr id="56" name="Shape 49"/>
          <p:cNvSpPr/>
          <p:nvPr/>
        </p:nvSpPr>
        <p:spPr>
          <a:xfrm>
            <a:off x="457200" y="3438144"/>
            <a:ext cx="8229600" cy="228600"/>
          </a:xfrm>
          <a:prstGeom prst="rect">
            <a:avLst/>
          </a:prstGeom>
          <a:solidFill>
            <a:srgbClr val="0A1628">
              <a:alpha val="70000"/>
            </a:srgbClr>
          </a:solidFill>
          <a:ln/>
        </p:spPr>
      </p:sp>
      <p:sp>
        <p:nvSpPr>
          <p:cNvPr id="57" name="Text 50"/>
          <p:cNvSpPr/>
          <p:nvPr/>
        </p:nvSpPr>
        <p:spPr>
          <a:xfrm>
            <a:off x="548640" y="343814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C39A"/>
                </a:solidFill>
              </a:rPr>
              <a:t>Key Derivation</a:t>
            </a:r>
            <a:endParaRPr lang="en-US" sz="850" dirty="0"/>
          </a:p>
        </p:txBody>
      </p:sp>
      <p:sp>
        <p:nvSpPr>
          <p:cNvPr id="58" name="Text 51"/>
          <p:cNvSpPr/>
          <p:nvPr/>
        </p:nvSpPr>
        <p:spPr>
          <a:xfrm>
            <a:off x="2286000" y="34381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PBKDF2-SHA256</a:t>
            </a:r>
            <a:endParaRPr lang="en-US" sz="850" dirty="0"/>
          </a:p>
        </p:txBody>
      </p:sp>
      <p:sp>
        <p:nvSpPr>
          <p:cNvPr id="59" name="Text 52"/>
          <p:cNvSpPr/>
          <p:nvPr/>
        </p:nvSpPr>
        <p:spPr>
          <a:xfrm>
            <a:off x="4663440" y="343814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NIST SP 800-132</a:t>
            </a:r>
            <a:endParaRPr lang="en-US" sz="800" dirty="0"/>
          </a:p>
        </p:txBody>
      </p:sp>
      <p:sp>
        <p:nvSpPr>
          <p:cNvPr id="60" name="Shape 53"/>
          <p:cNvSpPr/>
          <p:nvPr/>
        </p:nvSpPr>
        <p:spPr>
          <a:xfrm>
            <a:off x="457200" y="3675888"/>
            <a:ext cx="8229600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61" name="Text 54"/>
          <p:cNvSpPr/>
          <p:nvPr/>
        </p:nvSpPr>
        <p:spPr>
          <a:xfrm>
            <a:off x="548640" y="367588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C39A"/>
                </a:solidFill>
              </a:rPr>
              <a:t>PBKDF2 Rounds</a:t>
            </a:r>
            <a:endParaRPr lang="en-US" sz="850" dirty="0"/>
          </a:p>
        </p:txBody>
      </p:sp>
      <p:sp>
        <p:nvSpPr>
          <p:cNvPr id="62" name="Text 55"/>
          <p:cNvSpPr/>
          <p:nvPr/>
        </p:nvSpPr>
        <p:spPr>
          <a:xfrm>
            <a:off x="2286000" y="36758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100,000</a:t>
            </a:r>
            <a:endParaRPr lang="en-US" sz="850" dirty="0"/>
          </a:p>
        </p:txBody>
      </p:sp>
      <p:sp>
        <p:nvSpPr>
          <p:cNvPr id="63" name="Text 56"/>
          <p:cNvSpPr/>
          <p:nvPr/>
        </p:nvSpPr>
        <p:spPr>
          <a:xfrm>
            <a:off x="4663440" y="367588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OWASP 2023 recommendation</a:t>
            </a:r>
            <a:endParaRPr lang="en-US" sz="800" dirty="0"/>
          </a:p>
        </p:txBody>
      </p:sp>
      <p:sp>
        <p:nvSpPr>
          <p:cNvPr id="64" name="Shape 57"/>
          <p:cNvSpPr/>
          <p:nvPr/>
        </p:nvSpPr>
        <p:spPr>
          <a:xfrm>
            <a:off x="457200" y="3913632"/>
            <a:ext cx="8229600" cy="228600"/>
          </a:xfrm>
          <a:prstGeom prst="rect">
            <a:avLst/>
          </a:prstGeom>
          <a:solidFill>
            <a:srgbClr val="0A1628">
              <a:alpha val="70000"/>
            </a:srgbClr>
          </a:solidFill>
          <a:ln/>
        </p:spPr>
      </p:sp>
      <p:sp>
        <p:nvSpPr>
          <p:cNvPr id="65" name="Text 58"/>
          <p:cNvSpPr/>
          <p:nvPr/>
        </p:nvSpPr>
        <p:spPr>
          <a:xfrm>
            <a:off x="548640" y="39136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C39A"/>
                </a:solidFill>
              </a:rPr>
              <a:t>Salt / IV</a:t>
            </a:r>
            <a:endParaRPr lang="en-US" sz="850" dirty="0"/>
          </a:p>
        </p:txBody>
      </p:sp>
      <p:sp>
        <p:nvSpPr>
          <p:cNvPr id="66" name="Text 59"/>
          <p:cNvSpPr/>
          <p:nvPr/>
        </p:nvSpPr>
        <p:spPr>
          <a:xfrm>
            <a:off x="2286000" y="39136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128-bit / 96-bit</a:t>
            </a:r>
            <a:endParaRPr lang="en-US" sz="850" dirty="0"/>
          </a:p>
        </p:txBody>
      </p:sp>
      <p:sp>
        <p:nvSpPr>
          <p:cNvPr id="67" name="Text 60"/>
          <p:cNvSpPr/>
          <p:nvPr/>
        </p:nvSpPr>
        <p:spPr>
          <a:xfrm>
            <a:off x="4663440" y="391363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Unique per encryption</a:t>
            </a:r>
            <a:endParaRPr lang="en-US" sz="800" dirty="0"/>
          </a:p>
        </p:txBody>
      </p:sp>
      <p:sp>
        <p:nvSpPr>
          <p:cNvPr id="68" name="Shape 61"/>
          <p:cNvSpPr/>
          <p:nvPr/>
        </p:nvSpPr>
        <p:spPr>
          <a:xfrm>
            <a:off x="457200" y="4151376"/>
            <a:ext cx="8229600" cy="2286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69" name="Text 62"/>
          <p:cNvSpPr/>
          <p:nvPr/>
        </p:nvSpPr>
        <p:spPr>
          <a:xfrm>
            <a:off x="548640" y="41513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C39A"/>
                </a:solidFill>
              </a:rPr>
              <a:t>Secret Storage</a:t>
            </a:r>
            <a:endParaRPr lang="en-US" sz="850" dirty="0"/>
          </a:p>
        </p:txBody>
      </p:sp>
      <p:sp>
        <p:nvSpPr>
          <p:cNvPr id="70" name="Text 63"/>
          <p:cNvSpPr/>
          <p:nvPr/>
        </p:nvSpPr>
        <p:spPr>
          <a:xfrm>
            <a:off x="2286000" y="41513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Firestore (encrypted)</a:t>
            </a:r>
            <a:endParaRPr lang="en-US" sz="850" dirty="0"/>
          </a:p>
        </p:txBody>
      </p:sp>
      <p:sp>
        <p:nvSpPr>
          <p:cNvPr id="71" name="Text 64"/>
          <p:cNvSpPr/>
          <p:nvPr/>
        </p:nvSpPr>
        <p:spPr>
          <a:xfrm>
            <a:off x="4663440" y="4151376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Never in localStorage</a:t>
            </a:r>
            <a:endParaRPr lang="en-US" sz="800" dirty="0"/>
          </a:p>
        </p:txBody>
      </p:sp>
      <p:sp>
        <p:nvSpPr>
          <p:cNvPr id="72" name="Shape 65"/>
          <p:cNvSpPr/>
          <p:nvPr/>
        </p:nvSpPr>
        <p:spPr>
          <a:xfrm>
            <a:off x="457200" y="4389120"/>
            <a:ext cx="8229600" cy="228600"/>
          </a:xfrm>
          <a:prstGeom prst="rect">
            <a:avLst/>
          </a:prstGeom>
          <a:solidFill>
            <a:srgbClr val="0A1628">
              <a:alpha val="70000"/>
            </a:srgbClr>
          </a:solidFill>
          <a:ln/>
        </p:spPr>
      </p:sp>
      <p:sp>
        <p:nvSpPr>
          <p:cNvPr id="73" name="Text 66"/>
          <p:cNvSpPr/>
          <p:nvPr/>
        </p:nvSpPr>
        <p:spPr>
          <a:xfrm>
            <a:off x="548640" y="43891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C39A"/>
                </a:solidFill>
              </a:rPr>
              <a:t>In-Memory</a:t>
            </a:r>
            <a:endParaRPr lang="en-US" sz="850" dirty="0"/>
          </a:p>
        </p:txBody>
      </p:sp>
      <p:sp>
        <p:nvSpPr>
          <p:cNvPr id="74" name="Text 67"/>
          <p:cNvSpPr/>
          <p:nvPr/>
        </p:nvSpPr>
        <p:spPr>
          <a:xfrm>
            <a:off x="2286000" y="43891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React useRef</a:t>
            </a:r>
            <a:endParaRPr lang="en-US" sz="850" dirty="0"/>
          </a:p>
        </p:txBody>
      </p:sp>
      <p:sp>
        <p:nvSpPr>
          <p:cNvPr id="75" name="Text 68"/>
          <p:cNvSpPr/>
          <p:nvPr/>
        </p:nvSpPr>
        <p:spPr>
          <a:xfrm>
            <a:off x="4663440" y="43891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Cleared on sign-out</a:t>
            </a:r>
            <a:endParaRPr lang="en-US" sz="800" dirty="0"/>
          </a:p>
        </p:txBody>
      </p:sp>
      <p:sp>
        <p:nvSpPr>
          <p:cNvPr id="76" name="Text 69"/>
          <p:cNvSpPr/>
          <p:nvPr/>
        </p:nvSpPr>
        <p:spPr>
          <a:xfrm>
            <a:off x="27432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StellarNest · APAC Stellar Hackathon 2026</a:t>
            </a:r>
            <a:endParaRPr lang="en-US" sz="700" dirty="0"/>
          </a:p>
        </p:txBody>
      </p:sp>
      <p:sp>
        <p:nvSpPr>
          <p:cNvPr id="77" name="Shape 70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solidFill>
            <a:srgbClr val="0D9488">
              <a:alpha val="8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78" name="Text 71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2C39A"/>
                </a:solidFill>
              </a:rPr>
              <a:t>MARKET &amp; BUSINESS MODEL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$150B Market. One Percent Captured = $1.5B.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Total ASEAN Remittances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280" y="978408"/>
            <a:ext cx="50292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3383280" y="978408"/>
            <a:ext cx="5029200" cy="256032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8" name="Text 6"/>
          <p:cNvSpPr/>
          <p:nvPr/>
        </p:nvSpPr>
        <p:spPr>
          <a:xfrm>
            <a:off x="8503920" y="960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150$B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184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Current fees paid (5–7%)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636776"/>
            <a:ext cx="50292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9"/>
          <p:cNvSpPr/>
          <p:nvPr/>
        </p:nvSpPr>
        <p:spPr>
          <a:xfrm>
            <a:off x="3383280" y="1636776"/>
            <a:ext cx="336956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3811676" y="16184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10$B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22768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StellarNest target (0.5%)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83280" y="2295144"/>
            <a:ext cx="502920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Shape 13"/>
          <p:cNvSpPr/>
          <p:nvPr/>
        </p:nvSpPr>
        <p:spPr>
          <a:xfrm>
            <a:off x="3383280" y="2295144"/>
            <a:ext cx="25146" cy="25603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3499866" y="22768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</a:rPr>
              <a:t>0.75$B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926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</a:rPr>
              <a:t>REVENUE STREAMS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3218688"/>
            <a:ext cx="26517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377440" y="3291840"/>
            <a:ext cx="566928" cy="20116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2377440" y="329184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PRIMARY</a:t>
            </a:r>
            <a:endParaRPr lang="en-US" sz="7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566160"/>
            <a:ext cx="365760" cy="36576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14400" y="3566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Transaction Fee (0.5%)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02920" y="396849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Applied on sender side. Recipient receives full amount. $500 × 10 tx × 10K users = $250K/mo.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3182112" y="3218688"/>
            <a:ext cx="26517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193792" y="3291840"/>
            <a:ext cx="566928" cy="20116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6" name="Text 23"/>
          <p:cNvSpPr/>
          <p:nvPr/>
        </p:nvSpPr>
        <p:spPr>
          <a:xfrm>
            <a:off x="5193792" y="329184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B2B</a:t>
            </a:r>
            <a:endParaRPr lang="en-US" sz="7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3566160"/>
            <a:ext cx="365760" cy="36576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3730752" y="3566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Anchor Corridor Fee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3319272" y="396849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Stellar membrane partners (Flip, Sakto, VietinBank) pay per settled tx. StellarNest takes 30% revenue share.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5998464" y="3218688"/>
            <a:ext cx="26517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8010144" y="3291840"/>
            <a:ext cx="566928" cy="20116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28"/>
          <p:cNvSpPr/>
          <p:nvPr/>
        </p:nvSpPr>
        <p:spPr>
          <a:xfrm>
            <a:off x="8010144" y="329184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UPSELL</a:t>
            </a:r>
            <a:endParaRPr lang="en-US" sz="70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3566160"/>
            <a:ext cx="365760" cy="36576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547104" y="35661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</a:rPr>
              <a:t>Micro-Loan Origination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6135624" y="396849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3% fee on approved loans. On-chain income history drives 30-second auto-approval for ≤$500 loans.</a:t>
            </a:r>
            <a:endParaRPr lang="en-US" sz="850" dirty="0"/>
          </a:p>
        </p:txBody>
      </p:sp>
      <p:sp>
        <p:nvSpPr>
          <p:cNvPr id="36" name="Text 31"/>
          <p:cNvSpPr/>
          <p:nvPr/>
        </p:nvSpPr>
        <p:spPr>
          <a:xfrm>
            <a:off x="27432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StellarNest · APAC Stellar Hackathon 2026</a:t>
            </a:r>
            <a:endParaRPr lang="en-US" sz="700" dirty="0"/>
          </a:p>
        </p:txBody>
      </p:sp>
      <p:sp>
        <p:nvSpPr>
          <p:cNvPr id="37" name="Shape 32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solidFill>
            <a:srgbClr val="0D9488">
              <a:alpha val="8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D9488">
              <a:alpha val="7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1828800"/>
            <a:ext cx="4572000" cy="4572000"/>
          </a:xfrm>
          <a:prstGeom prst="ellipse">
            <a:avLst/>
          </a:prstGeom>
          <a:solidFill>
            <a:srgbClr val="02C39A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2C39A"/>
                </a:solidFill>
              </a:rPr>
              <a:t>THE VISION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From Testnet MVP to ASEAN Infrastructure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960120"/>
            <a:ext cx="36576" cy="3383280"/>
          </a:xfrm>
          <a:prstGeom prst="rect">
            <a:avLst/>
          </a:prstGeom>
          <a:solidFill>
            <a:srgbClr val="94A3B8">
              <a:alpha val="5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960120"/>
            <a:ext cx="1965960" cy="338328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60120"/>
            <a:ext cx="196596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069848"/>
            <a:ext cx="822960" cy="2926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0698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NOW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325880" y="10698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A34A"/>
                </a:solidFill>
              </a:rPr>
              <a:t>TESTNET MVP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146304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A34A"/>
                </a:solidFill>
              </a:rPr>
              <a:t>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21792" y="146304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✅ USDC testnet live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011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A34A"/>
                </a:solidFill>
              </a:rPr>
              <a:t>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" y="201168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✅ Magic Claim Links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5603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A34A"/>
                </a:solidFill>
              </a:rPr>
              <a:t>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" y="256032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✅ 70/30 Split-Routing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3108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A34A"/>
                </a:solidFill>
              </a:rPr>
              <a:t>›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" y="310896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✅ 6 ASEAN corridors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65760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A34A"/>
                </a:solidFill>
              </a:rPr>
              <a:t>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1792" y="365760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✅ Demo mode ($2,650 YTD)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257300" y="4361688"/>
            <a:ext cx="182880" cy="1828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23160" y="960120"/>
            <a:ext cx="1965960" cy="338328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23160" y="960120"/>
            <a:ext cx="196596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5" name="Shape 23"/>
          <p:cNvSpPr/>
          <p:nvPr/>
        </p:nvSpPr>
        <p:spPr>
          <a:xfrm>
            <a:off x="2514600" y="1069848"/>
            <a:ext cx="822960" cy="2926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/>
          <p:nvPr/>
        </p:nvSpPr>
        <p:spPr>
          <a:xfrm>
            <a:off x="2514600" y="10698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Q3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383280" y="10698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9488"/>
                </a:solidFill>
              </a:rPr>
              <a:t>MAINNET LAUNCH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514600" y="146304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9488"/>
                </a:solidFill>
              </a:rPr>
              <a:t>›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679192" y="146304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🏦 6 corridors live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514600" y="2011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9488"/>
                </a:solidFill>
              </a:rPr>
              <a:t>›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679192" y="201168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🏦 Flip, Sakto, VietinBank anchors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14600" y="25603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9488"/>
                </a:solidFill>
              </a:rPr>
              <a:t>›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79192" y="256032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📄 Proof of Income API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514600" y="3108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9488"/>
                </a:solidFill>
              </a:rPr>
              <a:t>›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679192" y="310896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🔐 Security audit (Trail of Bits)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514600" y="365760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9488"/>
                </a:solidFill>
              </a:rPr>
              <a:t>›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679192" y="365760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📱 React Native mobile app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314700" y="436168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9" name="Shape 37"/>
          <p:cNvSpPr/>
          <p:nvPr/>
        </p:nvSpPr>
        <p:spPr>
          <a:xfrm>
            <a:off x="4480560" y="960120"/>
            <a:ext cx="1965960" cy="338328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80560" y="960120"/>
            <a:ext cx="196596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2000" y="1069848"/>
            <a:ext cx="82296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0" y="10698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2027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440680" y="10698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MICRO-LOAN BETA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572000" y="146304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</a:rPr>
              <a:t>›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736592" y="146304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🤝 2 bank partners (BCA, BRI)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0" y="2011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</a:rPr>
              <a:t>›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736592" y="201168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💰 Loan origination beta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0" y="25603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</a:rPr>
              <a:t>›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736592" y="256032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🌏 Thailand + Malaysia live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572000" y="3108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</a:rPr>
              <a:t>›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736592" y="310896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📊 Income API v2.0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72000" y="365760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</a:rPr>
              <a:t>›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736592" y="365760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🏦 5 more bank partners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372100" y="4361688"/>
            <a:ext cx="182880" cy="1828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5" name="Shape 53"/>
          <p:cNvSpPr/>
          <p:nvPr/>
        </p:nvSpPr>
        <p:spPr>
          <a:xfrm>
            <a:off x="6537960" y="960120"/>
            <a:ext cx="1965960" cy="338328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537960" y="960120"/>
            <a:ext cx="196596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7" name="Shape 55"/>
          <p:cNvSpPr/>
          <p:nvPr/>
        </p:nvSpPr>
        <p:spPr>
          <a:xfrm>
            <a:off x="6629400" y="1069848"/>
            <a:ext cx="822960" cy="2926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8" name="Text 56"/>
          <p:cNvSpPr/>
          <p:nvPr/>
        </p:nvSpPr>
        <p:spPr>
          <a:xfrm>
            <a:off x="6629400" y="10698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2028+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498080" y="10698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ASEAN SCALE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629400" y="146304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</a:rPr>
              <a:t>›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793992" y="146304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🌍 10+ countries, 20+ corridors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629400" y="20116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</a:rPr>
              <a:t>›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793992" y="201168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💰 $5M+ ARR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629400" y="25603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</a:rPr>
              <a:t>›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6793992" y="256032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🏦 Central bank DSP integration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629400" y="31089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</a:rPr>
              <a:t>›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6793992" y="310896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🚀 1M+ active users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629400" y="365760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</a:rPr>
              <a:t>›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6793992" y="3657600"/>
            <a:ext cx="161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</a:rPr>
              <a:t>💱 SEP-24/31 native support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29500" y="4361688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71" name="Shape 69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F2044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" y="446227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</a:rPr>
              <a:t>StellarNest isn't just a payments app. It's a financial identity system built on the most efficient, most inclusive blockchain network in the world.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</a:rPr>
              <a:t>🌏  github.com/seppam/stellarnest  |  stellarnest.vercel.app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solidFill>
            <a:srgbClr val="0D9488">
              <a:alpha val="8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138160" y="4617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StellarNest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StellarNest — APAC Stellar Hackathon 2026</dc:title>
  <dc:subject>Pitch Deck</dc:subject>
  <dc:creator>StellarNest Team</dc:creator>
  <cp:lastModifiedBy>StellarNest Team</cp:lastModifiedBy>
  <cp:revision>1</cp:revision>
  <dcterms:created xsi:type="dcterms:W3CDTF">2026-07-14T13:29:28Z</dcterms:created>
  <dcterms:modified xsi:type="dcterms:W3CDTF">2026-07-14T13:29:28Z</dcterms:modified>
</cp:coreProperties>
</file>