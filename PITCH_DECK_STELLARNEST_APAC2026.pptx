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20040"/>
            <a:ext cx="182880" cy="18288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320040"/>
            <a:ext cx="182880" cy="182880"/>
          </a:xfrm>
          <a:prstGeom prst="ellipse">
            <a:avLst/>
          </a:prstGeom>
          <a:solidFill>
            <a:srgbClr val="0D9488">
              <a:alpha val="3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320040"/>
            <a:ext cx="182880" cy="182880"/>
          </a:xfrm>
          <a:prstGeom prst="ellipse">
            <a:avLst/>
          </a:prstGeom>
          <a:solidFill>
            <a:srgbClr val="0D9488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731520"/>
            <a:ext cx="182880" cy="182880"/>
          </a:xfrm>
          <a:prstGeom prst="ellipse">
            <a:avLst/>
          </a:prstGeom>
          <a:solidFill>
            <a:srgbClr val="0D9488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731520"/>
            <a:ext cx="182880" cy="182880"/>
          </a:xfrm>
          <a:prstGeom prst="ellipse">
            <a:avLst/>
          </a:prstGeom>
          <a:solidFill>
            <a:srgbClr val="0D9488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731520"/>
            <a:ext cx="182880" cy="1828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143000"/>
            <a:ext cx="182880" cy="18288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143000"/>
            <a:ext cx="182880" cy="182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StellarNest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</a:rPr>
              <a:t>StellarNest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5486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78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4B8A6"/>
                </a:solidFill>
              </a:rPr>
              <a:t>Borderless Payments for Every Worker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Powered by Stellar  ·  Built for ASEAN Migrant Workers &amp; Freelancers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60604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Blockchain-Powered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886200"/>
            <a:ext cx="260604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⚡ Instant Settlement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886200"/>
            <a:ext cx="260604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🔐 AES-256 Encrypted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🏆  APAC Stellar Hackathon — Final Submission  |  July 2026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System Is Broken at Every Level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15087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52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5–7%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1673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Exorbitant Fees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9842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Workers pay $12–$35 per transfer.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5–7% of each payment lost to fees.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73552" y="1143000"/>
            <a:ext cx="2606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3552" y="1143000"/>
            <a:ext cx="54864" cy="150876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801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252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</a:rPr>
              <a:t>2–3 days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410712" y="1673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2–3 Day Settlement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0712" y="19842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Emergency money takes days.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 same-day remittance option.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9904" y="1143000"/>
            <a:ext cx="2606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9904" y="114300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801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84264" y="1252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72M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227064" y="1673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72M Unbanked in ASEAN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27064" y="19842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Recipients without a bank account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simply cannot receive transfers.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2834640"/>
            <a:ext cx="3840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283464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43000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0 record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85800" y="3364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Credit History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85800" y="36758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Informal remittances build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financial identity or credit profile.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54880" y="2834640"/>
            <a:ext cx="3840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0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54880" y="2834640"/>
            <a:ext cx="54864" cy="150876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971800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49240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Many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4892040" y="3364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Fragmented Corridors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892040" y="36758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corridor (ID→PH, ID→VN)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is a different fee, aggregator, delay.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DC2626">
              <a:alpha val="5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💡 A $150B+ annual remittance market — where workers pay the highest fees and receive the least infrastructure.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39" name="Shape 32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02C39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Introducing StellarNest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One link. Any bank. Zero crypto knowledge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2194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Magic Claim Links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8620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Shareable payment URLs via WhatsApp or SMS. Recipient claims with just a phone number — no app, no wallet, no onboarding.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600200"/>
            <a:ext cx="2606040" cy="2194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600200"/>
            <a:ext cx="26060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280" y="1828800"/>
            <a:ext cx="594360" cy="5943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90195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Split-Routing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37560" y="28620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payment is automatically split: 70% to family, 30% to savings — enforced at the protocol level on the Stellar ledger.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43600" y="1600200"/>
            <a:ext cx="2606040" cy="2194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0" y="160020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7"/>
          <p:cNvSpPr/>
          <p:nvPr/>
        </p:nvSpPr>
        <p:spPr>
          <a:xfrm>
            <a:off x="6126480" y="1828800"/>
            <a:ext cx="594360" cy="59436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019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Multi-Currency Rails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28620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BI-FAST, InstaPay, VietQR, PromptPay, DuitNow, PayNow — 6 ASEAN corridors with local settlement networks.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solidFill>
            <a:srgbClr val="02C39A">
              <a:alpha val="12000"/>
            </a:srgbClr>
          </a:solidFill>
          <a:ln w="10160">
            <a:solidFill>
              <a:srgbClr val="02C39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40050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🔐  Client-Side AES-256-GCM Encryption  ·  PBKDF2 (100,000 rounds)  ·  Secrets never touch a server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PRODUCT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Sender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97764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24712"/>
            <a:ext cx="2980944" cy="3703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033272"/>
            <a:ext cx="457200" cy="164592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365760" cy="36576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2834640" cy="6400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55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  100.00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≈ Rp 1,650,000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</a:rPr>
              <a:t>SPLIT ROUTING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198424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Family  70%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24328" y="2743200"/>
            <a:ext cx="85039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2670048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Savings 30%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044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$70.00 → Family     $30.00 → Savings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2834640" cy="5029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🏠  Bayu Receiver  (🇮🇩 Indonesia)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28346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⚡  Share Magic Link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983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Screenshot: src/pages/Send.tsx ]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931920" y="9601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87368" y="1307592"/>
            <a:ext cx="36576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914400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Enter Amount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07408" y="118872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Type any amount ($1–$10,000). Live conversion shows local currency equivalent using exchange rate.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16184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87368" y="1965960"/>
            <a:ext cx="36576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07408" y="157276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Set the Split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07408" y="184708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Drag the 70/30 slider. Family savings vs emergency fund — enforced on-chain in a single transaction.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31920" y="227685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87368" y="2624328"/>
            <a:ext cx="36576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07408" y="2231136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Recipient Details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07408" y="250545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Enter name + select country. Determines settlement rail and e-wallets shown to recipient.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31920" y="293522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87368" y="3282696"/>
            <a:ext cx="36576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07408" y="2889504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Generate &amp; Share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07408" y="316382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Magic Link URL created and shared via WhatsApp, SMS, or email. One tap away.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931920" y="35935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07408" y="3547872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On-Chain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07408" y="3822192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Single USDC transaction submitted to Stellar. Memo CLAIM:&lt;id&gt; links ledger to Firestore record.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PRODUCT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Recipient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329184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468880" cy="3063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024128"/>
            <a:ext cx="365760" cy="137160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💰  You have a payment!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92389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$100.00 USDC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≈ Rp 1,650,000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399739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30352" y="377281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🌏  Select your country: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428487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🇮🇩 ID  🇵🇭 PH  🇻🇳 VN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479694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🇹🇭 TH  🇲🇾 MY  🇸🇬 SG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4688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Continue  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297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1: Claim Page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src/pages/Claim.tsx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97280"/>
            <a:ext cx="2468880" cy="3063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024128"/>
            <a:ext cx="365760" cy="137160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130759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💸  Withdraw to Bank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192389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64992" y="2296973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🇮🇩  Indonesia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2809037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Bank / E-Wallet: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328635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🔵 DANA  (selected)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3833165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OVO  GoPay  LinkAja  BCA  BRI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431048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</p:txBody>
      </p:sp>
      <p:sp>
        <p:nvSpPr>
          <p:cNvPr id="29" name="Text 27"/>
          <p:cNvSpPr/>
          <p:nvPr/>
        </p:nvSpPr>
        <p:spPr>
          <a:xfrm>
            <a:off x="3364992" y="4614062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Account / Phone: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5091379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0812-3456-7890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657600"/>
            <a:ext cx="24688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Withdraw Rp 1,650,000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297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2: Withdraw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4805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src/pages/Withdraw.tsx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35040" y="960120"/>
            <a:ext cx="2651760" cy="329184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097280"/>
            <a:ext cx="2468880" cy="3063240"/>
          </a:xfrm>
          <a:prstGeom prst="rect">
            <a:avLst/>
          </a:prstGeom>
          <a:solidFill>
            <a:srgbClr val="0A2E1E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1024128"/>
            <a:ext cx="365760" cy="137160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38" name="Text 36"/>
          <p:cNvSpPr/>
          <p:nvPr/>
        </p:nvSpPr>
        <p:spPr>
          <a:xfrm>
            <a:off x="6199632" y="1307592"/>
            <a:ext cx="23225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✅  Funds Claimed!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99632" y="2028139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99632" y="2470709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Rp 1,650,000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199632" y="3330245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sent to your DANA account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9632" y="3842309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99632" y="428487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⏱  Arrives in 1–3 business days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479694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199632" y="517001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TX: CLAIM:claim_17836...XKQ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26480" y="3657600"/>
            <a:ext cx="246888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Done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35040" y="4297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3: Success!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44805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Withdraw.tsx — success state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16A34A">
              <a:alpha val="8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98848"/>
            <a:ext cx="365760" cy="36576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1005840" y="44074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wallet needed  ·  No app install  ·  No crypto knowledge required  ·  KYC handled by e-wallet partner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FINANCIAL INCLUSION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Building a Financial Identity on-Chain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3832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749040" cy="777240"/>
          </a:xfrm>
          <a:prstGeom prst="rect">
            <a:avLst/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C39A"/>
                </a:solidFill>
              </a:rPr>
              <a:t>YTD INCOME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$2,650.00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1271016"/>
            <a:ext cx="411480" cy="110642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88720" y="868680"/>
            <a:ext cx="411480" cy="150876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83080" y="1170432"/>
            <a:ext cx="411480" cy="1207008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566928"/>
            <a:ext cx="411480" cy="181051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71800" y="1371600"/>
            <a:ext cx="41148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66160" y="1069848"/>
            <a:ext cx="411480" cy="130759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3749040" cy="502920"/>
          </a:xfrm>
          <a:prstGeom prst="rect">
            <a:avLst/>
          </a:prstGeom>
          <a:solidFill>
            <a:srgbClr val="0A162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Family: $1,855  |  Savings: $795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401568"/>
            <a:ext cx="374904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📄  Export Proof of Income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3434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Screenshot: src/pages/Insights.tsx ]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63440" y="914400"/>
            <a:ext cx="41148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📄  PROOF OF INCOME — StellarNest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26187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Worker:   Asep Sender  |  Key: GDEMOACCOUNT...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13853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Period:   January 1 — July 14,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150876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163220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  Jan 15   +$500.00  → Family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175564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  Mar 02   +$750.00  → Family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18790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  Apr 10   +$600.00  → Family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200253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  May 22   +$500.00  → Family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0600" y="212598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  Jul 08   +$300.00  → Family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224942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23728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  TOTAL YTD:  $2,650.00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651760"/>
            <a:ext cx="4114800" cy="347472"/>
          </a:xfrm>
          <a:prstGeom prst="rect">
            <a:avLst/>
          </a:prstGeom>
          <a:solidFill>
            <a:srgbClr val="16A34A">
              <a:alpha val="15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💰  Path to Credit — verified on-chain income unlocks loans &amp; mortgages</a:t>
            </a:r>
            <a:endParaRPr lang="en-US" sz="9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108960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010912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Auto-Generated Statement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010912" y="3346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One-click PDF from on-chain data. Verifiable by any bank.</a:t>
            </a:r>
            <a:endParaRPr lang="en-US" sz="90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67328"/>
            <a:ext cx="274320" cy="27432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010912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Credit Application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5010912" y="4005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Bank queries on-chain income via read-only API key (worker consents).</a:t>
            </a:r>
            <a:endParaRPr lang="en-US" sz="900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425696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010912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Micro-Loan Approval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5010912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Consistent 6-month history = auto-approved loans up to $500.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Stack: React 19 · Firebase · Stellar SDK v16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3716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React 19 SPA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5453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(Vite dev server)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28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1642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AppContext + Services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1844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claim.service, stellar.ts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4157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1941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Insights / Dashboard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22960" y="21427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YTD, charts, proof-of-income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65760" y="233172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2331720"/>
            <a:ext cx="137160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DATA &amp; SYNC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157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2715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localStorage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22960" y="2916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Offline-first, sync-first writes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6875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2968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Firebase Firestore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22960" y="3169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Claims, profiles, async sync</a:t>
            </a:r>
            <a:endParaRPr lang="en-US" sz="8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2173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60" y="3221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AES-256-GCM Keys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22960" y="3422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Encrypted secrets, PBKDF2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65760" y="356616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65760" y="3566160"/>
            <a:ext cx="13716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3"/>
          <p:cNvSpPr/>
          <p:nvPr/>
        </p:nvSpPr>
        <p:spPr>
          <a:xfrm>
            <a:off x="41148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STELLAR LAYER</a:t>
            </a:r>
            <a:endParaRPr lang="en-US" sz="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50208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2296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Stellar Testnet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82296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horizon-testnet.stellar.org</a:t>
            </a:r>
            <a:endParaRPr lang="en-US" sz="8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203192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22960" y="4203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USDC Issuer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822960" y="4404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GBBD47IF6LWK7P7MDEVSCWR7...</a:t>
            </a:r>
            <a:endParaRPr lang="en-US" sz="8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456176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22960" y="4456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Memo: CLAIM:&lt;id&gt;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822960" y="46573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Max 28 bytes (SDK v16)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278892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42" name="Text 31"/>
          <p:cNvSpPr/>
          <p:nvPr/>
        </p:nvSpPr>
        <p:spPr>
          <a:xfrm>
            <a:off x="2788920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43" name="Shape 32"/>
          <p:cNvSpPr/>
          <p:nvPr/>
        </p:nvSpPr>
        <p:spPr>
          <a:xfrm>
            <a:off x="5623560" y="960120"/>
            <a:ext cx="315468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5623560" y="960120"/>
            <a:ext cx="3154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34"/>
          <p:cNvSpPr/>
          <p:nvPr/>
        </p:nvSpPr>
        <p:spPr>
          <a:xfrm>
            <a:off x="5715000" y="978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Tech Stack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5715000" y="1371600"/>
            <a:ext cx="29718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36"/>
          <p:cNvSpPr/>
          <p:nvPr/>
        </p:nvSpPr>
        <p:spPr>
          <a:xfrm>
            <a:off x="5806440" y="1389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React 19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5806440" y="155448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Frontend SPA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5715000" y="1764792"/>
            <a:ext cx="2971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39"/>
          <p:cNvSpPr/>
          <p:nvPr/>
        </p:nvSpPr>
        <p:spPr>
          <a:xfrm>
            <a:off x="5806440" y="1783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React Router 7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5806440" y="19476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Client routing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5715000" y="2157984"/>
            <a:ext cx="29718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2"/>
          <p:cNvSpPr/>
          <p:nvPr/>
        </p:nvSpPr>
        <p:spPr>
          <a:xfrm>
            <a:off x="5806440" y="2176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Vite 8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5806440" y="234086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Build &amp; HMR</a:t>
            </a: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5715000" y="2551176"/>
            <a:ext cx="2971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45"/>
          <p:cNvSpPr/>
          <p:nvPr/>
        </p:nvSpPr>
        <p:spPr>
          <a:xfrm>
            <a:off x="5806440" y="2569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Firebase 12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5806440" y="273405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Auth + Firestore</a:t>
            </a:r>
            <a:endParaRPr lang="en-US" sz="800" dirty="0"/>
          </a:p>
        </p:txBody>
      </p:sp>
      <p:sp>
        <p:nvSpPr>
          <p:cNvPr id="58" name="Shape 47"/>
          <p:cNvSpPr/>
          <p:nvPr/>
        </p:nvSpPr>
        <p:spPr>
          <a:xfrm>
            <a:off x="5715000" y="2944368"/>
            <a:ext cx="29718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48"/>
          <p:cNvSpPr/>
          <p:nvPr/>
        </p:nvSpPr>
        <p:spPr>
          <a:xfrm>
            <a:off x="5806440" y="29626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stellar-sdk 16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5806440" y="312724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Horizon API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5715000" y="3337560"/>
            <a:ext cx="2971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1"/>
          <p:cNvSpPr/>
          <p:nvPr/>
        </p:nvSpPr>
        <p:spPr>
          <a:xfrm>
            <a:off x="5806440" y="3355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Tailwind CSS 3.4</a:t>
            </a:r>
            <a:endParaRPr lang="en-US" sz="900" dirty="0"/>
          </a:p>
        </p:txBody>
      </p:sp>
      <p:sp>
        <p:nvSpPr>
          <p:cNvPr id="63" name="Text 52"/>
          <p:cNvSpPr/>
          <p:nvPr/>
        </p:nvSpPr>
        <p:spPr>
          <a:xfrm>
            <a:off x="5806440" y="35204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64" name="Shape 53"/>
          <p:cNvSpPr/>
          <p:nvPr/>
        </p:nvSpPr>
        <p:spPr>
          <a:xfrm>
            <a:off x="5715000" y="3730752"/>
            <a:ext cx="29718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54"/>
          <p:cNvSpPr/>
          <p:nvPr/>
        </p:nvSpPr>
        <p:spPr>
          <a:xfrm>
            <a:off x="5806440" y="3749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Web Crypto API</a:t>
            </a:r>
            <a:endParaRPr lang="en-US" sz="900" dirty="0"/>
          </a:p>
        </p:txBody>
      </p:sp>
      <p:sp>
        <p:nvSpPr>
          <p:cNvPr id="66" name="Text 55"/>
          <p:cNvSpPr/>
          <p:nvPr/>
        </p:nvSpPr>
        <p:spPr>
          <a:xfrm>
            <a:off x="5806440" y="39136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AES-GCM crypto</a:t>
            </a:r>
            <a:endParaRPr lang="en-US" sz="800" dirty="0"/>
          </a:p>
        </p:txBody>
      </p:sp>
      <p:sp>
        <p:nvSpPr>
          <p:cNvPr id="67" name="Shape 56"/>
          <p:cNvSpPr/>
          <p:nvPr/>
        </p:nvSpPr>
        <p:spPr>
          <a:xfrm>
            <a:off x="5715000" y="4123944"/>
            <a:ext cx="2971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57"/>
          <p:cNvSpPr/>
          <p:nvPr/>
        </p:nvSpPr>
        <p:spPr>
          <a:xfrm>
            <a:off x="5806440" y="4142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Playwright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5806440" y="43068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E2E testing</a:t>
            </a:r>
            <a:endParaRPr lang="en-US" sz="800" dirty="0"/>
          </a:p>
        </p:txBody>
      </p:sp>
      <p:sp>
        <p:nvSpPr>
          <p:cNvPr id="70" name="Shape 59"/>
          <p:cNvSpPr/>
          <p:nvPr/>
        </p:nvSpPr>
        <p:spPr>
          <a:xfrm>
            <a:off x="5623560" y="4572000"/>
            <a:ext cx="3154680" cy="384048"/>
          </a:xfrm>
          <a:prstGeom prst="rect">
            <a:avLst/>
          </a:prstGeom>
          <a:solidFill>
            <a:srgbClr val="D97706">
              <a:alpha val="1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5715000" y="45720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💡 MOCK_MODE=true (dev)  /  false (production)</a:t>
            </a:r>
            <a:endParaRPr lang="en-US" sz="800" dirty="0"/>
          </a:p>
        </p:txBody>
      </p:sp>
      <p:sp>
        <p:nvSpPr>
          <p:cNvPr id="72" name="Text 61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73" name="Shape 62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SECURITY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AES-256-GCM · PBKDF2 100K · Zero Server Exposure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72768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157276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13385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133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508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9019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Firebase UID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Anonymous Auth gives each user a unique, stable UID.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2487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e.g. "abc123xyz"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938528" y="16916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29968" y="1005840"/>
            <a:ext cx="1572768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29968" y="1005840"/>
            <a:ext cx="1572768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2651760" y="113385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2651760" y="1133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50876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21408" y="19019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PBKDF2 Key Derivation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121408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UID + 100,000 rounds SHA-256 → 256-bit AES key.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121408" y="2487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C39A"/>
                </a:solidFill>
              </a:rPr>
              <a:t>NIST SP 800-132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3602736" y="16916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694176" y="1005840"/>
            <a:ext cx="1572768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694176" y="1005840"/>
            <a:ext cx="15727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Shape 22"/>
          <p:cNvSpPr/>
          <p:nvPr/>
        </p:nvSpPr>
        <p:spPr>
          <a:xfrm>
            <a:off x="4315968" y="113385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3"/>
          <p:cNvSpPr/>
          <p:nvPr/>
        </p:nvSpPr>
        <p:spPr>
          <a:xfrm>
            <a:off x="4315968" y="1133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0876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85616" y="19019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AES-256-GCM Encrypt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785616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Random IV per operation. Authenticated encryption.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785616" y="2487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</a:rPr>
              <a:t>NIST SP 800-38D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5266944" y="16916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358384" y="1005840"/>
            <a:ext cx="1572768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358384" y="1005840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Shape 30"/>
          <p:cNvSpPr/>
          <p:nvPr/>
        </p:nvSpPr>
        <p:spPr>
          <a:xfrm>
            <a:off x="5980176" y="1133856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1"/>
          <p:cNvSpPr/>
          <p:nvPr/>
        </p:nvSpPr>
        <p:spPr>
          <a:xfrm>
            <a:off x="5980176" y="1133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508760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49824" y="19019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 in Firestore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449824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base64(salt[16] || ct || iv[12]) stored as encryptedSecret.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449824" y="2487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Unreadable without UID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6931152" y="16916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7022592" y="1005840"/>
            <a:ext cx="1572768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022592" y="1005840"/>
            <a:ext cx="1572768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Shape 38"/>
          <p:cNvSpPr/>
          <p:nvPr/>
        </p:nvSpPr>
        <p:spPr>
          <a:xfrm>
            <a:off x="7644384" y="1133856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39"/>
          <p:cNvSpPr/>
          <p:nvPr/>
        </p:nvSpPr>
        <p:spPr>
          <a:xfrm>
            <a:off x="7644384" y="1133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1508760"/>
            <a:ext cx="365760" cy="36576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114032" y="19019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In-Memory Only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7114032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Decrypted secret lives in walletSecretRef (React useRef). Never serialized.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7114032" y="2487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</a:rPr>
              <a:t>Gone on sign-out</a:t>
            </a:r>
            <a:endParaRPr lang="en-US" sz="700" dirty="0"/>
          </a:p>
        </p:txBody>
      </p:sp>
      <p:sp>
        <p:nvSpPr>
          <p:cNvPr id="50" name="Shape 43"/>
          <p:cNvSpPr/>
          <p:nvPr/>
        </p:nvSpPr>
        <p:spPr>
          <a:xfrm>
            <a:off x="365760" y="2834640"/>
            <a:ext cx="841248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5720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🔐  Security Specification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46"/>
          <p:cNvSpPr/>
          <p:nvPr/>
        </p:nvSpPr>
        <p:spPr>
          <a:xfrm>
            <a:off x="54864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Algorithm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228600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AES-256-GCM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466344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NIST SP 800-38D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457200" y="3438144"/>
            <a:ext cx="8229600" cy="2286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sp>
        <p:nvSpPr>
          <p:cNvPr id="57" name="Text 50"/>
          <p:cNvSpPr/>
          <p:nvPr/>
        </p:nvSpPr>
        <p:spPr>
          <a:xfrm>
            <a:off x="548640" y="3438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Key Derivation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2286000" y="3438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PBKDF2-SHA256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4663440" y="34381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NIST SP 800-132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>
            <a:off x="457200" y="3675888"/>
            <a:ext cx="8229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4"/>
          <p:cNvSpPr/>
          <p:nvPr/>
        </p:nvSpPr>
        <p:spPr>
          <a:xfrm>
            <a:off x="548640" y="3675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PBKDF2 Rounds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228600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100,000</a:t>
            </a:r>
            <a:endParaRPr lang="en-US" sz="850" dirty="0"/>
          </a:p>
        </p:txBody>
      </p:sp>
      <p:sp>
        <p:nvSpPr>
          <p:cNvPr id="63" name="Text 56"/>
          <p:cNvSpPr/>
          <p:nvPr/>
        </p:nvSpPr>
        <p:spPr>
          <a:xfrm>
            <a:off x="4663440" y="3675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OWASP 2023 recommendation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457200" y="3913632"/>
            <a:ext cx="8229600" cy="2286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sp>
        <p:nvSpPr>
          <p:cNvPr id="65" name="Text 58"/>
          <p:cNvSpPr/>
          <p:nvPr/>
        </p:nvSpPr>
        <p:spPr>
          <a:xfrm>
            <a:off x="54864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Salt / IV</a:t>
            </a:r>
            <a:endParaRPr lang="en-US" sz="850" dirty="0"/>
          </a:p>
        </p:txBody>
      </p:sp>
      <p:sp>
        <p:nvSpPr>
          <p:cNvPr id="66" name="Text 59"/>
          <p:cNvSpPr/>
          <p:nvPr/>
        </p:nvSpPr>
        <p:spPr>
          <a:xfrm>
            <a:off x="228600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128-bit / 96-bit</a:t>
            </a:r>
            <a:endParaRPr lang="en-US" sz="850" dirty="0"/>
          </a:p>
        </p:txBody>
      </p:sp>
      <p:sp>
        <p:nvSpPr>
          <p:cNvPr id="67" name="Text 60"/>
          <p:cNvSpPr/>
          <p:nvPr/>
        </p:nvSpPr>
        <p:spPr>
          <a:xfrm>
            <a:off x="4663440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Unique per encryption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457200" y="4151376"/>
            <a:ext cx="8229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9" name="Text 62"/>
          <p:cNvSpPr/>
          <p:nvPr/>
        </p:nvSpPr>
        <p:spPr>
          <a:xfrm>
            <a:off x="548640" y="4151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Secret Storage</a:t>
            </a:r>
            <a:endParaRPr lang="en-US" sz="850" dirty="0"/>
          </a:p>
        </p:txBody>
      </p:sp>
      <p:sp>
        <p:nvSpPr>
          <p:cNvPr id="70" name="Text 63"/>
          <p:cNvSpPr/>
          <p:nvPr/>
        </p:nvSpPr>
        <p:spPr>
          <a:xfrm>
            <a:off x="2286000" y="4151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Firestore (encrypted)</a:t>
            </a:r>
            <a:endParaRPr lang="en-US" sz="850" dirty="0"/>
          </a:p>
        </p:txBody>
      </p:sp>
      <p:sp>
        <p:nvSpPr>
          <p:cNvPr id="71" name="Text 64"/>
          <p:cNvSpPr/>
          <p:nvPr/>
        </p:nvSpPr>
        <p:spPr>
          <a:xfrm>
            <a:off x="4663440" y="4151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Never in localStorage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sp>
        <p:nvSpPr>
          <p:cNvPr id="73" name="Text 66"/>
          <p:cNvSpPr/>
          <p:nvPr/>
        </p:nvSpPr>
        <p:spPr>
          <a:xfrm>
            <a:off x="54864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In-Memory</a:t>
            </a:r>
            <a:endParaRPr lang="en-US" sz="850" dirty="0"/>
          </a:p>
        </p:txBody>
      </p:sp>
      <p:sp>
        <p:nvSpPr>
          <p:cNvPr id="74" name="Text 67"/>
          <p:cNvSpPr/>
          <p:nvPr/>
        </p:nvSpPr>
        <p:spPr>
          <a:xfrm>
            <a:off x="228600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React useRef</a:t>
            </a:r>
            <a:endParaRPr lang="en-US" sz="850" dirty="0"/>
          </a:p>
        </p:txBody>
      </p:sp>
      <p:sp>
        <p:nvSpPr>
          <p:cNvPr id="75" name="Text 68"/>
          <p:cNvSpPr/>
          <p:nvPr/>
        </p:nvSpPr>
        <p:spPr>
          <a:xfrm>
            <a:off x="466344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Cleared on sign-out</a:t>
            </a:r>
            <a:endParaRPr lang="en-US" sz="800" dirty="0"/>
          </a:p>
        </p:txBody>
      </p:sp>
      <p:sp>
        <p:nvSpPr>
          <p:cNvPr id="76" name="Text 69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77" name="Shape 70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MARKET &amp;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$150B Market. One Percent Captured = $1.5B.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Total ASEAN Remittances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978408"/>
            <a:ext cx="50292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978408"/>
            <a:ext cx="50292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150$B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Current fees paid (5–7%)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36776"/>
            <a:ext cx="50292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636776"/>
            <a:ext cx="336956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811676" y="1618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10$B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StellarNest target (0.5%)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295144"/>
            <a:ext cx="50292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2295144"/>
            <a:ext cx="25146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99866" y="2276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0.75$B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REVENUE STREAMS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77440" y="3291840"/>
            <a:ext cx="56692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6616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Transaction Fee (0.5%)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3968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Applied on sender side. Recipient receives full amount. $500 × 10 tx × 10K users = $250K/mo.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182112" y="321868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93792" y="3291840"/>
            <a:ext cx="56692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5193792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B2B</a:t>
            </a:r>
            <a:endParaRPr lang="en-US" sz="7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356616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30752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Anchor Corridor Fee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319272" y="3968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Stellar membrane partners (Flip, Sakto, VietinBank) pay per settled tx. StellarNest takes 30% revenue share.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998464" y="321868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10144" y="3291840"/>
            <a:ext cx="56692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28"/>
          <p:cNvSpPr/>
          <p:nvPr/>
        </p:nvSpPr>
        <p:spPr>
          <a:xfrm>
            <a:off x="8010144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UPSELL</a:t>
            </a:r>
            <a:endParaRPr lang="en-US" sz="7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56616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47104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Micro-Loan Origination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135624" y="3968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3% fee on approved loans. On-chain income history drives 30-second auto-approval for ≤$500 loans.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2743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StellarNest · APAC Stellar Hackathon 2026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2C39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THE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Testnet MVP to ASEAN Infrastructure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6576" cy="3383280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60120"/>
            <a:ext cx="1965960" cy="33832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69848"/>
            <a:ext cx="82296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69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1069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TESTNET MVP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14630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USDC testnet live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0116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Magic Claim Links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25603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70/30 Split-Routing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1089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6 ASEAN corridors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657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Demo mode ($2,650 YTD)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57300" y="436168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23160" y="960120"/>
            <a:ext cx="1965960" cy="33832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96012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1069848"/>
            <a:ext cx="8229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1069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Q3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1069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MAINNET LAUNCH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14600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79192" y="14630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🏦 6 corridors live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79192" y="20116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🏦 Flip, Sakto, VietinBank anchors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14600" y="2560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79192" y="25603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📄 Proof of Income API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14600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79192" y="31089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🔐 Security audit (Trail of Bits)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1460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79192" y="3657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📱 React Native mobile app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4700" y="43616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0" y="960120"/>
            <a:ext cx="1965960" cy="33832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960120"/>
            <a:ext cx="1965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0" y="1069848"/>
            <a:ext cx="82296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1069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2027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40680" y="1069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MICRO-LOAN BETA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›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36592" y="14630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🤝 2 bank partners (BCA, BRI)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›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36592" y="20116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💰 Loan origination beta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2560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36592" y="25603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🌏 Thailand + Malaysia live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›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36592" y="31089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📊 Income API v2.0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›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36592" y="3657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🏦 5 more bank partners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72100" y="436168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6537960" y="960120"/>
            <a:ext cx="1965960" cy="33832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7960" y="96012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" name="Shape 55"/>
          <p:cNvSpPr/>
          <p:nvPr/>
        </p:nvSpPr>
        <p:spPr>
          <a:xfrm>
            <a:off x="6629400" y="1069848"/>
            <a:ext cx="82296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6629400" y="1069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2028+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98080" y="1069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ASEAN SCALE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29400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›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93992" y="14630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🌍 10+ countries, 20+ corridors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2940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›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793992" y="20116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💰 $5M+ ARR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29400" y="2560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›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93992" y="25603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🏦 Central bank DSP integration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29400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›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793992" y="31089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🚀 1M+ active users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2940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›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793992" y="3657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💱 SEP-24/31 native support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29500" y="436168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1" name="Shape 6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StellarNest isn't just a payments app. It's a financial identity system built on the most efficient, most inclusive blockchain network in the world.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🌏  github.com/seppam/stellarnest  |  stellarnest.vercel.app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38160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StellarNest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StellarNest — APAC Stellar Hackathon 2026</dc:title>
  <dc:subject>Pitch Deck</dc:subject>
  <dc:creator>StellarNest Team</dc:creator>
  <cp:lastModifiedBy>StellarNest Team</cp:lastModifiedBy>
  <cp:revision>1</cp:revision>
  <dcterms:created xsi:type="dcterms:W3CDTF">2026-07-14T13:37:25Z</dcterms:created>
  <dcterms:modified xsi:type="dcterms:W3CDTF">2026-07-14T13:37:25Z</dcterms:modified>
</cp:coreProperties>
</file>